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"Tahaqqaq means verify. We verify green loans twice: the paperwork before approval, and the site before payment." Formerly called GreenRoute. 7-MINUTE PLAN (pitch + both demos): cover 10s, energy 20s, problem 30s, compliance 20s, solution 20s, Phase 1 20s, Demo 1 90s, Phase 2 20s, Demo 2 120s, who benefits 15s, Jordan 15s, business 25s, ask 15s. Then 3 minutes of questions: the backup slides after the ask cover compliance detail and differentiation.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"Jordan needs about 10 billion dollars of climate investment by 2030. The World Bank says that if a fifth of bank lending went green, it could cover the private sector's share. So banks are the channel, and every green loan has to be checked and proven. That's where we come in." The World Bank's 2022 Country Climate and Development Report puts the figure at about US$9.5 billion for priority actions by 2030; its 2024 blog rounds it to US$10 billion. The 20% is the World Bank's hypothetical scenario, not a target. Import estimates range from 94% of oil and gas to 98% of all energy.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it simple: two blind spots, one before the loan and one after. Before approval: the bank officer gets a pile of PDFs, including duplicates, old bills and receipts presented as approvals. Supplier claims often sit above published benchmarks. Checking the file against the national taxonomy and CBJ rules is done by hand, takes days, and the reasoning isn't recorded anywhere. After approval: the loan is paid out on invoices, and there's rarely a systematic on-site check that the approved equipment arrived and was switched on. Who loses: institutions wait, banks carry compliance and reputational risk, and Jordan's climate money leaks.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main selling point: compliance. "Banks must now label green loans against a national taxonomy and manage climate risk in credit. The tools haven't caught up. Tahaqqaq applies these rules as written checks, and every check shows its source page." Say "with World Bank and IFC support", not "IFC-led". Council of Ministers approval (1 Feb 2026) is reported by the Reform Secretariat.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never decides. It reads, and its answer only counts if we find the quote on the page and a person confirms it." Safeguards: the quoted sentence must be found on the cited page or the value is thrown out; document text is treated as data; a receipt is never treated as an approval; only a bank officer can release a payment. Be honest if asked: AI reading of real uploads is in the full version (an analyst starts it and confirms each value); it is switched off in the offline demo, where the rules engine reads the synthetic files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~15s, or skip in the 7-minute run and keep for questions. "This is what we'd build with a pilot bank; what you'll see today is the offline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synthetic "Campus energy upgrade", Demo University, 16 files. JOD 553,000 requested across 4 upgrades. Solar (250k) and LED (180k) go forward once proof arrives = JOD 430,000 candidate scope. Library retrofit (85k) sent back: saves 14%, rule needs 20%. Water fixtures (38k) can't be screened: no water bills. Supplier's 1,800 kWh/kWp corrected to 1,639 from a measured Jordanian PV plant; LED 70% capped at the national 50%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"What you're about to see is a working preview. It runs every case end to end on sample documents, so it's repeatable on stage without a live bank backend or AI connection." If asked: the AI reading step for real uploads is built in the full version and switched off in the preview; documents, institutions and amounts are sample data. 7-MINUTE CUT: about 90 seconds. Use the shortcut: open the saved reference case in the inbox (no live submit), then Overview → Data checks (one source chip) → Compliance → Report PDF. Full script below if time allows. Part A. Before: laptop + phone on the same hotspot; run start-preview.bat; press Reset demo; keep the backup recording ready. A1 Home page: "AI reads, rules check, code calculates, the bank decides, and site checks release payment." A2 Institution portal → Load demo files (16 synthetic PDFs). A3 Submit application. A4 Bank workspace → open Campus energy upgrade; screening runs, ends on Evidence requested. A5 Overview: "Not ready for credit review yet". Solar + LED, JOD 430,000, go forward once 8 missing documents arrive; library sent back (14% vs 20% rule); water can't be screened. A6 Files: 11 screening, 2 credit, 3 set aside. A7 Data checks → click source chip S10, p. 1: 1,800 → 1,639; LED 70% → 50%. A8 Compliance → switch layers; climate risk marked Bank review. A9 Project analysis: JOD 373,632/yr savings cover an illustrative payment 4.3× (3.0× at −30%); 649 tCO₂e/yr, estimated. A10 Report → Download PDF and request list. "Nothing here is a lending decision." Shortcut: the inbox has a kept reference case with the same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"Double financing and model swaps are caught before the money moves." This answers the Green Loan Principles' use-of-proceeds requirement. Scenario: synthetic "Solar and LED upgrade", Amman Private Hospital (a different institution from Phase 1). Approved scope JOD 430,000; loan JOD 344,000 (80%). Payments unlock automatically when every item is verified, but only a bank officer can release them. After payment 2 the project code expires. The 60/40 split is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7-MINUTE CUT: about 2 minutes. Show shipment 1 (green), shipment 3 (red, already financed), its replacement, Release payment 1, one switch-on photo with Retake now, then the certificate. Skip B2 and the extra scans. Part B. B1 Report → Open approved case (or inbox → Solar and LED upgrade): a different institution, a hospital; JOD 430,000 scope, 80% loan of JOD 344,000; code TQ-4821, QR, two locked payments. B2 (Optional) institution Verification view: sends the code by WhatsApp or SMS. B3 Phone: enter TQ-4821 → Open project. Arabic first, no money shown. B4 Scan shipments 1 and 2: green. B5 Shipment 3: red, serial already financed under another loan. B6 Shipment 4: amber, 550 W instead of 580 W; payment 1 stays locked. B7 Inverter, LED fittings, replacements for 3 and 4: delivery 6 of 6. B8 Laptop: Release payment 1 (JOD 206,400) → confirm. B9 Phone: 4 photos; first is blurry → Retake now; 182.4 kW, 1,286 kWh today; meter export; LEDs on. Switch-on 3 of 3. B10 Release payment 2 (JOD 137,600). Status Paid; code expired. B11 Download certificate. B12 Reset demo. Say honestly: scan results and site photos are scripted with synthetic data. Fallbacks: long-press the progress counter if a label won't scan; on iPhone tap Scan.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banks, our paying customer; close with Jordan. Banks: less manual review, a recorded compliance trail, and payments tied to proof. Institutions: one application with a clear list of what's missing and who holds it. Installers: instant green/amber/red feedback on the phone, and payment is no longer stuck behind paperwork they can't see. CBJ: consistent labelling that discourages greenwashing. Auditors: source chips, report appendix and the verification certificate. Don't quote a time-saved percentage; it hasn't been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gains happen inside each financed project; indirect gains build up across the economy. Direct: money only flows against proof of delivery and switch-on; institutions cut their electricity bills; local solar replaces imported fuel (Energy Strategy target: 48.5% of electricity from local sources by 2030); CO₂ and MWh use the national grid factor (0.4447 tCO₂e/MWh) and capped benchmarks, so impact isn't overstated. Indirect: consistent taxonomy labels discourage greenwashing, which matters to international green investors and lenders; banks are the channel for the private share of Jordan's ~US$10B climate investment need; more financed projects mean more work for local installers; and it supports the CBJ Green Finance Strategy 2023–2028 and the updated NDC (31% cut vs business as usual by 2030). Jobs and investor appetite are logical effects, not measured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~15s. "Banks pay, because they carry the compliance and the risk. Institutions and installers use it free." Prices will be set with the pilot bank; this is a proposal, not a tested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~15s. "For a pilot bank with about 100 applications a month, it costs roughly 200 to 550 dollars a month, or 2 to 5 dollars per application. AI is the only cost that grows with volume." All figures are estimates; the final model choice is still being evaluated.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asking for one pilot bank and one portfolio of private institutions." Why it scales: the rules live in plain code tied to their sources, so a new rule set (a bank's own framework, or another country's taxonomy) is an update, not a rebuild. The shared registry of financed equipment would ideally be run by the CBJ or the credit bureau, so double financing is caught across banks. These are roadmap items, not in the app today. Close with: AI reads, rules decide, the bank approves.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main selling point, just shown in both demos. "Every criterion carries its page number, and you can click it." Taxonomy criteria: solar PV activity (p. 86) Met; panel end-of-life (p. 86), LED efficiency class (p. 138) and water fixtures (p. 132) Proof missing; 20% whole-building rule (p. 136) Not met (library 14%). Like the taxonomy itself, we classify and leave the financing decision to the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first, Jordan specific, end to end, humans in charge." Versus consultants: thorough but slow and costly, output is narrative. Versus spreadsheet checklists: don't read documents, don't cite sources, stop at approval. Most green-finance tools stop at origination; Tahaqqaq continues to the site and the payment.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2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7251F"/>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640"/>
            <a:ext cx="10566400" cy="4480560"/>
          </a:xfrm>
          <a:prstGeom prst="rect">
            <a:avLst/>
          </a:prstGeom>
          <a:noFill/>
          <a:ln/>
        </p:spPr>
        <p:txBody>
          <a:bodyPr wrap="square" lIns="0" tIns="0" rIns="0" bIns="0" rtlCol="0" anchor="t"/>
          <a:lstStyle>
            <a:lvl1pPr algn="l" indent="0" marL="0">
              <a:lnSpc>
                <a:spcPct val="140000"/>
              </a:lnSpc>
              <a:buNone/>
              <a:defRPr lang="en-US" sz="1600" dirty="0">
                <a:solidFill>
                  <a:srgbClr val="17251F"/>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2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7251F"/>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640"/>
            <a:ext cx="10566400" cy="4480560"/>
          </a:xfrm>
          <a:prstGeom prst="rect">
            <a:avLst/>
          </a:prstGeom>
          <a:noFill/>
          <a:ln/>
        </p:spPr>
        <p:txBody>
          <a:bodyPr wrap="square" lIns="0" tIns="0" rIns="0" bIns="0" rtlCol="0" anchor="t"/>
          <a:lstStyle>
            <a:lvl1pPr algn="l" indent="0" marL="0">
              <a:lnSpc>
                <a:spcPct val="140000"/>
              </a:lnSpc>
              <a:buNone/>
              <a:defRPr lang="en-US" sz="1600" dirty="0">
                <a:solidFill>
                  <a:srgbClr val="17251F"/>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23"/>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6FD3A0"/>
                </a:solidFill>
                <a:latin typeface="IBM Plex Sans" pitchFamily="34" charset="0"/>
                <a:ea typeface="IBM Plex Sans" pitchFamily="34" charset="-122"/>
                <a:cs typeface="IBM Plex Sans" pitchFamily="34" charset="-120"/>
              </a:rPr>
              <a:t>AI QUEST 2026 · HTU</a:t>
            </a:r>
            <a:endParaRPr lang="en-US" sz="1400" dirty="0"/>
          </a:p>
        </p:txBody>
      </p:sp>
      <p:sp>
        <p:nvSpPr>
          <p:cNvPr id="3" name="Text 1"/>
          <p:cNvSpPr/>
          <p:nvPr>
            <p:ph type="title"/>
          </p:nvPr>
        </p:nvSpPr>
        <p:spPr>
          <a:xfrm>
            <a:off x="812800" y="2004060"/>
            <a:ext cx="5020072" cy="1041400"/>
          </a:xfrm>
          <a:prstGeom prst="rect">
            <a:avLst/>
          </a:prstGeom>
          <a:noFill/>
          <a:ln/>
        </p:spPr>
        <p:txBody>
          <a:bodyPr wrap="square" lIns="0" tIns="0" rIns="0" bIns="0" rtlCol="0" anchor="t">
            <a:normAutofit/>
          </a:bodyPr>
          <a:lstStyle/>
          <a:p>
            <a:pPr algn="l" indent="0" marL="0">
              <a:lnSpc>
                <a:spcPts val="8000"/>
              </a:lnSpc>
              <a:buNone/>
            </a:pPr>
            <a:r>
              <a:rPr lang="en-US" sz="8000" b="1" i="0" dirty="0">
                <a:solidFill>
                  <a:srgbClr val="F3F0E6"/>
                </a:solidFill>
                <a:latin typeface="IBM Plex Sans" pitchFamily="34" charset="0"/>
                <a:ea typeface="IBM Plex Sans" pitchFamily="34" charset="-122"/>
                <a:cs typeface="IBM Plex Sans" pitchFamily="34" charset="-120"/>
              </a:rPr>
              <a:t>Tahaqqaq</a:t>
            </a:r>
            <a:endParaRPr lang="en-US" sz="8000" dirty="0"/>
          </a:p>
        </p:txBody>
      </p:sp>
      <p:sp>
        <p:nvSpPr>
          <p:cNvPr id="4" name="Text 2"/>
          <p:cNvSpPr/>
          <p:nvPr/>
        </p:nvSpPr>
        <p:spPr>
          <a:xfrm>
            <a:off x="5832872" y="2212340"/>
            <a:ext cx="2110740" cy="838200"/>
          </a:xfrm>
          <a:prstGeom prst="rect">
            <a:avLst/>
          </a:prstGeom>
          <a:noFill/>
          <a:ln/>
        </p:spPr>
        <p:txBody>
          <a:bodyPr wrap="square" lIns="0" tIns="0" rIns="0" bIns="0" rtlCol="0" anchor="t">
            <a:normAutofit/>
          </a:bodyPr>
          <a:lstStyle/>
          <a:p>
            <a:pPr algn="l" indent="0" marL="0">
              <a:lnSpc>
                <a:spcPts val="6400"/>
              </a:lnSpc>
              <a:buNone/>
            </a:pPr>
            <a:r>
              <a:rPr lang="en-US" sz="6400" b="1" dirty="0">
                <a:solidFill>
                  <a:srgbClr val="6FD3A0"/>
                </a:solidFill>
                <a:latin typeface="IBM Plex Sans Arabic" pitchFamily="34" charset="0"/>
                <a:ea typeface="IBM Plex Sans Arabic" pitchFamily="34" charset="-122"/>
                <a:cs typeface="IBM Plex Sans Arabic" pitchFamily="34" charset="-120"/>
              </a:rPr>
              <a:t>تحقّق</a:t>
            </a:r>
            <a:endParaRPr lang="en-US" sz="6400" dirty="0"/>
          </a:p>
        </p:txBody>
      </p:sp>
      <p:sp>
        <p:nvSpPr>
          <p:cNvPr id="5" name="Text 3"/>
          <p:cNvSpPr/>
          <p:nvPr/>
        </p:nvSpPr>
        <p:spPr>
          <a:xfrm>
            <a:off x="812800" y="322834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F3F0E6"/>
                </a:solidFill>
                <a:latin typeface="IBM Plex Sans" pitchFamily="34" charset="0"/>
                <a:ea typeface="IBM Plex Sans" pitchFamily="34" charset="-122"/>
                <a:cs typeface="IBM Plex Sans" pitchFamily="34" charset="-120"/>
              </a:rPr>
              <a:t>Verify green finance</a:t>
            </a:r>
            <a:endParaRPr lang="en-US" sz="3200" dirty="0"/>
          </a:p>
        </p:txBody>
      </p:sp>
      <p:sp>
        <p:nvSpPr>
          <p:cNvPr id="6" name="Text 4"/>
          <p:cNvSpPr/>
          <p:nvPr/>
        </p:nvSpPr>
        <p:spPr>
          <a:xfrm>
            <a:off x="812800" y="3878580"/>
            <a:ext cx="8371840"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6CF"/>
                </a:solidFill>
                <a:latin typeface="IBM Plex Sans" pitchFamily="34" charset="0"/>
                <a:ea typeface="IBM Plex Sans" pitchFamily="34" charset="-122"/>
                <a:cs typeface="IBM Plex Sans" pitchFamily="34" charset="-120"/>
              </a:rPr>
              <a:t>We verify green loans twice: the paperwork before approval, and the site before each payment.</a:t>
            </a:r>
            <a:endParaRPr lang="en-US" sz="1800" dirty="0"/>
          </a:p>
        </p:txBody>
      </p:sp>
      <p:sp>
        <p:nvSpPr>
          <p:cNvPr id="7" name="Text 5"/>
          <p:cNvSpPr/>
          <p:nvPr/>
        </p:nvSpPr>
        <p:spPr>
          <a:xfrm>
            <a:off x="812800" y="546100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6FD3A0"/>
                </a:solidFill>
                <a:latin typeface="IBM Plex Sans" pitchFamily="34" charset="0"/>
                <a:ea typeface="IBM Plex Sans" pitchFamily="34" charset="-122"/>
                <a:cs typeface="IBM Plex Sans" pitchFamily="34" charset="-120"/>
              </a:rPr>
              <a:t>Team NotFrm63rd</a:t>
            </a:r>
            <a:endParaRPr lang="en-US" sz="1600" dirty="0"/>
          </a:p>
        </p:txBody>
      </p:sp>
      <p:sp>
        <p:nvSpPr>
          <p:cNvPr id="8" name="Text 6"/>
          <p:cNvSpPr/>
          <p:nvPr/>
        </p:nvSpPr>
        <p:spPr>
          <a:xfrm>
            <a:off x="812800" y="579628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6CF"/>
                </a:solidFill>
                <a:latin typeface="IBM Plex Sans" pitchFamily="34" charset="0"/>
                <a:ea typeface="IBM Plex Sans" pitchFamily="34" charset="-122"/>
                <a:cs typeface="IBM Plex Sans" pitchFamily="34" charset="-120"/>
              </a:rPr>
              <a:t>Samir Awwad · Mohammed Jarrar · Karam Harb</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51F"/>
                </a:solidFill>
                <a:latin typeface="IBM Plex Sans" pitchFamily="34" charset="0"/>
                <a:ea typeface="IBM Plex Sans" pitchFamily="34" charset="-122"/>
                <a:cs typeface="IBM Plex Sans" pitchFamily="34" charset="-120"/>
              </a:rPr>
              <a:t>Jordan's energy squeeze</a:t>
            </a:r>
            <a:endParaRPr lang="en-US" sz="3200" dirty="0"/>
          </a:p>
        </p:txBody>
      </p:sp>
      <p:sp>
        <p:nvSpPr>
          <p:cNvPr id="3" name="Shape 1"/>
          <p:cNvSpPr/>
          <p:nvPr/>
        </p:nvSpPr>
        <p:spPr>
          <a:xfrm>
            <a:off x="815975" y="1567815"/>
            <a:ext cx="2482850" cy="1892300"/>
          </a:xfrm>
          <a:prstGeom prst="roundRect">
            <a:avLst>
              <a:gd name="adj" fmla="val 5201"/>
            </a:avLst>
          </a:prstGeom>
          <a:solidFill>
            <a:srgbClr val="FFFDF8"/>
          </a:solidFill>
          <a:ln w="6350">
            <a:solidFill>
              <a:srgbClr val="DCD6C8"/>
            </a:solidFill>
            <a:prstDash val="solid"/>
          </a:ln>
        </p:spPr>
      </p:sp>
      <p:sp>
        <p:nvSpPr>
          <p:cNvPr id="4" name="Text 2"/>
          <p:cNvSpPr/>
          <p:nvPr/>
        </p:nvSpPr>
        <p:spPr>
          <a:xfrm>
            <a:off x="1071880" y="1823720"/>
            <a:ext cx="2030171"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1A6E4A"/>
                </a:solidFill>
                <a:latin typeface="IBM Plex Sans" pitchFamily="34" charset="0"/>
                <a:ea typeface="IBM Plex Sans" pitchFamily="34" charset="-122"/>
                <a:cs typeface="IBM Plex Sans" pitchFamily="34" charset="-120"/>
              </a:rPr>
              <a:t>&gt;90%</a:t>
            </a:r>
            <a:endParaRPr lang="en-US" sz="4400" dirty="0"/>
          </a:p>
        </p:txBody>
      </p:sp>
      <p:sp>
        <p:nvSpPr>
          <p:cNvPr id="5" name="Text 3"/>
          <p:cNvSpPr/>
          <p:nvPr/>
        </p:nvSpPr>
        <p:spPr>
          <a:xfrm>
            <a:off x="1071880" y="2484120"/>
            <a:ext cx="2030171" cy="74549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7251F"/>
                </a:solidFill>
                <a:latin typeface="IBM Plex Sans" pitchFamily="34" charset="0"/>
                <a:ea typeface="IBM Plex Sans" pitchFamily="34" charset="-122"/>
                <a:cs typeface="IBM Plex Sans" pitchFamily="34" charset="-120"/>
              </a:rPr>
              <a:t>of Jordan's energy is imported, leaving it exposed to fuel prices</a:t>
            </a:r>
            <a:endParaRPr lang="en-US" sz="1400" dirty="0"/>
          </a:p>
        </p:txBody>
      </p:sp>
      <p:sp>
        <p:nvSpPr>
          <p:cNvPr id="6" name="Shape 4"/>
          <p:cNvSpPr/>
          <p:nvPr/>
        </p:nvSpPr>
        <p:spPr>
          <a:xfrm>
            <a:off x="3508375" y="1567815"/>
            <a:ext cx="2482850" cy="1892300"/>
          </a:xfrm>
          <a:prstGeom prst="roundRect">
            <a:avLst>
              <a:gd name="adj" fmla="val 5201"/>
            </a:avLst>
          </a:prstGeom>
          <a:solidFill>
            <a:srgbClr val="FFFDF8"/>
          </a:solidFill>
          <a:ln w="6350">
            <a:solidFill>
              <a:srgbClr val="DCD6C8"/>
            </a:solidFill>
            <a:prstDash val="solid"/>
          </a:ln>
        </p:spPr>
      </p:sp>
      <p:sp>
        <p:nvSpPr>
          <p:cNvPr id="7" name="Text 5"/>
          <p:cNvSpPr/>
          <p:nvPr/>
        </p:nvSpPr>
        <p:spPr>
          <a:xfrm>
            <a:off x="3764280" y="1823720"/>
            <a:ext cx="2030171"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1A6E4A"/>
                </a:solidFill>
                <a:latin typeface="IBM Plex Sans" pitchFamily="34" charset="0"/>
                <a:ea typeface="IBM Plex Sans" pitchFamily="34" charset="-122"/>
                <a:cs typeface="IBM Plex Sans" pitchFamily="34" charset="-120"/>
              </a:rPr>
              <a:t>48.5%</a:t>
            </a:r>
            <a:endParaRPr lang="en-US" sz="4400" dirty="0"/>
          </a:p>
        </p:txBody>
      </p:sp>
      <p:sp>
        <p:nvSpPr>
          <p:cNvPr id="8" name="Text 6"/>
          <p:cNvSpPr/>
          <p:nvPr/>
        </p:nvSpPr>
        <p:spPr>
          <a:xfrm>
            <a:off x="3764280" y="2484120"/>
            <a:ext cx="2030171" cy="74549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7251F"/>
                </a:solidFill>
                <a:latin typeface="IBM Plex Sans" pitchFamily="34" charset="0"/>
                <a:ea typeface="IBM Plex Sans" pitchFamily="34" charset="-122"/>
                <a:cs typeface="IBM Plex Sans" pitchFamily="34" charset="-120"/>
              </a:rPr>
              <a:t>electricity from local sources by 2030, up from 15% in 2019</a:t>
            </a:r>
            <a:endParaRPr lang="en-US" sz="1400" dirty="0"/>
          </a:p>
        </p:txBody>
      </p:sp>
      <p:sp>
        <p:nvSpPr>
          <p:cNvPr id="9" name="Shape 7"/>
          <p:cNvSpPr/>
          <p:nvPr/>
        </p:nvSpPr>
        <p:spPr>
          <a:xfrm>
            <a:off x="6200775" y="1567815"/>
            <a:ext cx="2482850" cy="1892300"/>
          </a:xfrm>
          <a:prstGeom prst="roundRect">
            <a:avLst>
              <a:gd name="adj" fmla="val 5201"/>
            </a:avLst>
          </a:prstGeom>
          <a:solidFill>
            <a:srgbClr val="FFFDF8"/>
          </a:solidFill>
          <a:ln w="6350">
            <a:solidFill>
              <a:srgbClr val="DCD6C8"/>
            </a:solidFill>
            <a:prstDash val="solid"/>
          </a:ln>
        </p:spPr>
      </p:sp>
      <p:sp>
        <p:nvSpPr>
          <p:cNvPr id="10" name="Text 8"/>
          <p:cNvSpPr/>
          <p:nvPr/>
        </p:nvSpPr>
        <p:spPr>
          <a:xfrm>
            <a:off x="6456680" y="1823720"/>
            <a:ext cx="2030171"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1A6E4A"/>
                </a:solidFill>
                <a:latin typeface="IBM Plex Sans" pitchFamily="34" charset="0"/>
                <a:ea typeface="IBM Plex Sans" pitchFamily="34" charset="-122"/>
                <a:cs typeface="IBM Plex Sans" pitchFamily="34" charset="-120"/>
              </a:rPr>
              <a:t>31%</a:t>
            </a:r>
            <a:endParaRPr lang="en-US" sz="4400" dirty="0"/>
          </a:p>
        </p:txBody>
      </p:sp>
      <p:sp>
        <p:nvSpPr>
          <p:cNvPr id="11" name="Text 9"/>
          <p:cNvSpPr/>
          <p:nvPr/>
        </p:nvSpPr>
        <p:spPr>
          <a:xfrm>
            <a:off x="6456680" y="2484120"/>
            <a:ext cx="2030171" cy="74549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7251F"/>
                </a:solidFill>
                <a:latin typeface="IBM Plex Sans" pitchFamily="34" charset="0"/>
                <a:ea typeface="IBM Plex Sans" pitchFamily="34" charset="-122"/>
                <a:cs typeface="IBM Plex Sans" pitchFamily="34" charset="-120"/>
              </a:rPr>
              <a:t>cut in greenhouse gases vs business as usual by 2030</a:t>
            </a:r>
            <a:endParaRPr lang="en-US" sz="1400" dirty="0"/>
          </a:p>
        </p:txBody>
      </p:sp>
      <p:sp>
        <p:nvSpPr>
          <p:cNvPr id="12" name="Shape 10"/>
          <p:cNvSpPr/>
          <p:nvPr/>
        </p:nvSpPr>
        <p:spPr>
          <a:xfrm>
            <a:off x="8893175" y="1567815"/>
            <a:ext cx="2482850" cy="1892300"/>
          </a:xfrm>
          <a:prstGeom prst="roundRect">
            <a:avLst>
              <a:gd name="adj" fmla="val 5201"/>
            </a:avLst>
          </a:prstGeom>
          <a:solidFill>
            <a:srgbClr val="FFFDF8"/>
          </a:solidFill>
          <a:ln w="6350">
            <a:solidFill>
              <a:srgbClr val="DCD6C8"/>
            </a:solidFill>
            <a:prstDash val="solid"/>
          </a:ln>
        </p:spPr>
      </p:sp>
      <p:sp>
        <p:nvSpPr>
          <p:cNvPr id="13" name="Text 11"/>
          <p:cNvSpPr/>
          <p:nvPr/>
        </p:nvSpPr>
        <p:spPr>
          <a:xfrm>
            <a:off x="9149080" y="1823720"/>
            <a:ext cx="2030171"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1A6E4A"/>
                </a:solidFill>
                <a:latin typeface="IBM Plex Sans" pitchFamily="34" charset="0"/>
                <a:ea typeface="IBM Plex Sans" pitchFamily="34" charset="-122"/>
                <a:cs typeface="IBM Plex Sans" pitchFamily="34" charset="-120"/>
              </a:rPr>
              <a:t>97 m³</a:t>
            </a:r>
            <a:endParaRPr lang="en-US" sz="4400" dirty="0"/>
          </a:p>
        </p:txBody>
      </p:sp>
      <p:sp>
        <p:nvSpPr>
          <p:cNvPr id="14" name="Text 12"/>
          <p:cNvSpPr/>
          <p:nvPr/>
        </p:nvSpPr>
        <p:spPr>
          <a:xfrm>
            <a:off x="9149080" y="2484120"/>
            <a:ext cx="2030171" cy="74549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7251F"/>
                </a:solidFill>
                <a:latin typeface="IBM Plex Sans" pitchFamily="34" charset="0"/>
                <a:ea typeface="IBM Plex Sans" pitchFamily="34" charset="-122"/>
                <a:cs typeface="IBM Plex Sans" pitchFamily="34" charset="-120"/>
              </a:rPr>
              <a:t>of water per person a year, far below the 500 m³ scarcity line</a:t>
            </a:r>
            <a:endParaRPr lang="en-US" sz="1400" dirty="0"/>
          </a:p>
        </p:txBody>
      </p:sp>
      <p:sp>
        <p:nvSpPr>
          <p:cNvPr id="15" name="Shape 13"/>
          <p:cNvSpPr/>
          <p:nvPr/>
        </p:nvSpPr>
        <p:spPr>
          <a:xfrm>
            <a:off x="812800" y="3768090"/>
            <a:ext cx="10566400" cy="1879600"/>
          </a:xfrm>
          <a:prstGeom prst="roundRect">
            <a:avLst>
              <a:gd name="adj" fmla="val 5405"/>
            </a:avLst>
          </a:prstGeom>
          <a:solidFill>
            <a:srgbClr val="0E2A23"/>
          </a:solidFill>
          <a:ln/>
        </p:spPr>
      </p:sp>
      <p:sp>
        <p:nvSpPr>
          <p:cNvPr id="16" name="Text 14"/>
          <p:cNvSpPr/>
          <p:nvPr/>
        </p:nvSpPr>
        <p:spPr>
          <a:xfrm>
            <a:off x="1168400" y="4047490"/>
            <a:ext cx="1628934" cy="1346200"/>
          </a:xfrm>
          <a:prstGeom prst="rect">
            <a:avLst/>
          </a:prstGeom>
          <a:noFill/>
          <a:ln/>
        </p:spPr>
        <p:txBody>
          <a:bodyPr wrap="square" lIns="0" tIns="0" rIns="0" bIns="0" rtlCol="0" anchor="t">
            <a:normAutofit/>
          </a:bodyPr>
          <a:lstStyle/>
          <a:p>
            <a:pPr algn="l" indent="0" marL="0">
              <a:lnSpc>
                <a:spcPts val="5200"/>
              </a:lnSpc>
              <a:buNone/>
            </a:pPr>
            <a:r>
              <a:rPr lang="en-US" sz="5200" b="1" dirty="0">
                <a:solidFill>
                  <a:srgbClr val="6FD3A0"/>
                </a:solidFill>
                <a:latin typeface="IBM Plex Sans" pitchFamily="34" charset="0"/>
                <a:ea typeface="IBM Plex Sans" pitchFamily="34" charset="-122"/>
                <a:cs typeface="IBM Plex Sans" pitchFamily="34" charset="-120"/>
              </a:rPr>
              <a:t>US$10B</a:t>
            </a:r>
            <a:endParaRPr lang="en-US" sz="5200" dirty="0"/>
          </a:p>
        </p:txBody>
      </p:sp>
      <p:sp>
        <p:nvSpPr>
          <p:cNvPr id="17" name="Text 15"/>
          <p:cNvSpPr/>
          <p:nvPr/>
        </p:nvSpPr>
        <p:spPr>
          <a:xfrm>
            <a:off x="3102134" y="4423410"/>
            <a:ext cx="815911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3F0E6"/>
                </a:solidFill>
                <a:latin typeface="IBM Plex Sans" pitchFamily="34" charset="0"/>
                <a:ea typeface="IBM Plex Sans" pitchFamily="34" charset="-122"/>
                <a:cs typeface="IBM Plex Sans" pitchFamily="34" charset="-120"/>
              </a:rPr>
              <a:t>in climate investment needed by 2030. If 20% of bank credit went green, it could cover the private sector's share. </a:t>
            </a:r>
            <a:r>
              <a:rPr lang="en-US" sz="1600" b="1" dirty="0">
                <a:solidFill>
                  <a:srgbClr val="F3F0E6"/>
                </a:solidFill>
                <a:latin typeface="IBM Plex Sans" pitchFamily="34" charset="0"/>
                <a:ea typeface="IBM Plex Sans" pitchFamily="34" charset="-122"/>
                <a:cs typeface="IBM Plex Sans" pitchFamily="34" charset="-120"/>
              </a:rPr>
              <a:t>Banks are the channel.</a:t>
            </a:r>
            <a:endParaRPr lang="en-US" sz="1600" dirty="0"/>
          </a:p>
        </p:txBody>
      </p:sp>
      <p:sp>
        <p:nvSpPr>
          <p:cNvPr id="18" name="Text 16"/>
          <p:cNvSpPr/>
          <p:nvPr/>
        </p:nvSpPr>
        <p:spPr>
          <a:xfrm>
            <a:off x="812800" y="62382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35C"/>
                </a:solidFill>
                <a:latin typeface="IBM Plex Sans" pitchFamily="34" charset="0"/>
                <a:ea typeface="IBM Plex Sans" pitchFamily="34" charset="-122"/>
                <a:cs typeface="IBM Plex Sans" pitchFamily="34" charset="-120"/>
              </a:rPr>
              <a:t>Sources: Heliyon 2020 [R13]; MEMR Energy Strategy [R9]; Updated NDC 2021 [R10]; World Bank [R16]; World Bank blog [R3]</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51F"/>
                </a:solidFill>
                <a:latin typeface="IBM Plex Sans" pitchFamily="34" charset="0"/>
                <a:ea typeface="IBM Plex Sans" pitchFamily="34" charset="-122"/>
                <a:cs typeface="IBM Plex Sans" pitchFamily="34" charset="-120"/>
              </a:rPr>
              <a:t>The problem: two blind spots</a:t>
            </a:r>
            <a:endParaRPr lang="en-US" sz="3200" dirty="0"/>
          </a:p>
        </p:txBody>
      </p:sp>
      <p:sp>
        <p:nvSpPr>
          <p:cNvPr id="3" name="Shape 1"/>
          <p:cNvSpPr/>
          <p:nvPr/>
        </p:nvSpPr>
        <p:spPr>
          <a:xfrm>
            <a:off x="815975" y="1567816"/>
            <a:ext cx="5175250" cy="3484880"/>
          </a:xfrm>
          <a:prstGeom prst="roundRect">
            <a:avLst>
              <a:gd name="adj" fmla="val 2824"/>
            </a:avLst>
          </a:prstGeom>
          <a:solidFill>
            <a:srgbClr val="FFFDF8"/>
          </a:solidFill>
          <a:ln w="6350">
            <a:solidFill>
              <a:srgbClr val="DCD6C8"/>
            </a:solidFill>
            <a:prstDash val="solid"/>
          </a:ln>
        </p:spPr>
      </p:sp>
      <p:sp>
        <p:nvSpPr>
          <p:cNvPr id="4" name="Text 2"/>
          <p:cNvSpPr/>
          <p:nvPr/>
        </p:nvSpPr>
        <p:spPr>
          <a:xfrm>
            <a:off x="1071880" y="1823720"/>
            <a:ext cx="4803343"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A6E4A"/>
                </a:solidFill>
                <a:latin typeface="IBM Plex Sans" pitchFamily="34" charset="0"/>
                <a:ea typeface="IBM Plex Sans" pitchFamily="34" charset="-122"/>
                <a:cs typeface="IBM Plex Sans" pitchFamily="34" charset="-120"/>
              </a:rPr>
              <a:t>BEFORE APPROVAL</a:t>
            </a:r>
            <a:endParaRPr lang="en-US" sz="1200" dirty="0"/>
          </a:p>
        </p:txBody>
      </p:sp>
      <p:sp>
        <p:nvSpPr>
          <p:cNvPr id="5" name="Text 3"/>
          <p:cNvSpPr/>
          <p:nvPr/>
        </p:nvSpPr>
        <p:spPr>
          <a:xfrm>
            <a:off x="1071880" y="2164080"/>
            <a:ext cx="4803343"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7251F"/>
                </a:solidFill>
                <a:latin typeface="IBM Plex Sans" pitchFamily="34" charset="0"/>
                <a:ea typeface="IBM Plex Sans" pitchFamily="34" charset="-122"/>
                <a:cs typeface="IBM Plex Sans" pitchFamily="34" charset="-120"/>
              </a:rPr>
              <a:t>Banks check every file by hand</a:t>
            </a:r>
            <a:endParaRPr lang="en-US" sz="2000" dirty="0"/>
          </a:p>
        </p:txBody>
      </p:sp>
      <p:sp>
        <p:nvSpPr>
          <p:cNvPr id="6" name="Text 4"/>
          <p:cNvSpPr/>
          <p:nvPr/>
        </p:nvSpPr>
        <p:spPr>
          <a:xfrm>
            <a:off x="1099312" y="2583180"/>
            <a:ext cx="4769815" cy="1465580"/>
          </a:xfrm>
          <a:prstGeom prst="rect">
            <a:avLst/>
          </a:prstGeom>
          <a:noFill/>
          <a:ln/>
        </p:spPr>
        <p:txBody>
          <a:bodyPr wrap="square" lIns="0" tIns="0" rIns="0" bIns="0" rtlCol="0" anchor="t">
            <a:normAutofit/>
          </a:bodyPr>
          <a:lstStyle/>
          <a:p>
            <a:pPr algn="l" marL="175768" indent="-175768">
              <a:lnSpc>
                <a:spcPts val="1890"/>
              </a:lnSpc>
              <a:buSzPct val="100000"/>
              <a:buChar char="•"/>
            </a:pPr>
            <a:r>
              <a:rPr lang="en-US" sz="1400" dirty="0">
                <a:solidFill>
                  <a:srgbClr val="17251F"/>
                </a:solidFill>
                <a:latin typeface="IBM Plex Sans" pitchFamily="34" charset="0"/>
                <a:ea typeface="IBM Plex Sans" pitchFamily="34" charset="-122"/>
                <a:cs typeface="IBM Plex Sans" pitchFamily="34" charset="-120"/>
              </a:rPr>
              <a:t>Files arrive as scattered PDFs: duplicates, old bills, receipts instead of approvals</a:t>
            </a:r>
            <a:endParaRPr lang="en-US" sz="1400" dirty="0"/>
          </a:p>
          <a:p>
            <a:pPr algn="l" marL="175768" indent="-175768">
              <a:lnSpc>
                <a:spcPts val="1890"/>
              </a:lnSpc>
              <a:buSzPct val="100000"/>
              <a:buChar char="•"/>
            </a:pPr>
            <a:r>
              <a:rPr lang="en-US" sz="1400" dirty="0">
                <a:solidFill>
                  <a:srgbClr val="17251F"/>
                </a:solidFill>
                <a:latin typeface="IBM Plex Sans" pitchFamily="34" charset="0"/>
                <a:ea typeface="IBM Plex Sans" pitchFamily="34" charset="-122"/>
                <a:cs typeface="IBM Plex Sans" pitchFamily="34" charset="-120"/>
              </a:rPr>
              <a:t>Supplier savings claims are often inflated, yet taken at face value</a:t>
            </a:r>
            <a:endParaRPr lang="en-US" sz="1400" dirty="0"/>
          </a:p>
          <a:p>
            <a:pPr algn="l" marL="175768" indent="-175768">
              <a:lnSpc>
                <a:spcPts val="1890"/>
              </a:lnSpc>
              <a:buSzPct val="100000"/>
              <a:buChar char="•"/>
            </a:pPr>
            <a:r>
              <a:rPr lang="en-US" sz="1400" dirty="0">
                <a:solidFill>
                  <a:srgbClr val="17251F"/>
                </a:solidFill>
                <a:latin typeface="IBM Plex Sans" pitchFamily="34" charset="0"/>
                <a:ea typeface="IBM Plex Sans" pitchFamily="34" charset="-122"/>
                <a:cs typeface="IBM Plex Sans" pitchFamily="34" charset="-120"/>
              </a:rPr>
              <a:t>Compliance with the taxonomy and CBJ rules is checked manually, and the reasoning isn't recorded</a:t>
            </a:r>
            <a:endParaRPr lang="en-US" sz="1400" dirty="0"/>
          </a:p>
        </p:txBody>
      </p:sp>
      <p:sp>
        <p:nvSpPr>
          <p:cNvPr id="7" name="Shape 5"/>
          <p:cNvSpPr/>
          <p:nvPr/>
        </p:nvSpPr>
        <p:spPr>
          <a:xfrm>
            <a:off x="1071880" y="4153536"/>
            <a:ext cx="4663440" cy="0"/>
          </a:xfrm>
          <a:prstGeom prst="line">
            <a:avLst/>
          </a:prstGeom>
          <a:noFill/>
          <a:ln w="6350">
            <a:solidFill>
              <a:srgbClr val="DCD6C8"/>
            </a:solidFill>
            <a:prstDash val="solid"/>
          </a:ln>
        </p:spPr>
      </p:sp>
      <p:sp>
        <p:nvSpPr>
          <p:cNvPr id="8" name="Text 6"/>
          <p:cNvSpPr/>
          <p:nvPr/>
        </p:nvSpPr>
        <p:spPr>
          <a:xfrm>
            <a:off x="1071880" y="4282441"/>
            <a:ext cx="4803343"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A6E4A"/>
                </a:solidFill>
                <a:latin typeface="IBM Plex Sans" pitchFamily="34" charset="0"/>
                <a:ea typeface="IBM Plex Sans" pitchFamily="34" charset="-122"/>
                <a:cs typeface="IBM Plex Sans" pitchFamily="34" charset="-120"/>
              </a:rPr>
              <a:t>Result: slow approvals, inconsistent green labels, greenwashing risk</a:t>
            </a:r>
            <a:endParaRPr lang="en-US" sz="1300" dirty="0"/>
          </a:p>
        </p:txBody>
      </p:sp>
      <p:sp>
        <p:nvSpPr>
          <p:cNvPr id="9" name="Shape 7"/>
          <p:cNvSpPr/>
          <p:nvPr/>
        </p:nvSpPr>
        <p:spPr>
          <a:xfrm>
            <a:off x="6200775" y="1567816"/>
            <a:ext cx="5175250" cy="3484880"/>
          </a:xfrm>
          <a:prstGeom prst="roundRect">
            <a:avLst>
              <a:gd name="adj" fmla="val 2824"/>
            </a:avLst>
          </a:prstGeom>
          <a:solidFill>
            <a:srgbClr val="FFFDF8"/>
          </a:solidFill>
          <a:ln w="6350">
            <a:solidFill>
              <a:srgbClr val="DCD6C8"/>
            </a:solidFill>
            <a:prstDash val="solid"/>
          </a:ln>
        </p:spPr>
      </p:sp>
      <p:sp>
        <p:nvSpPr>
          <p:cNvPr id="10" name="Text 8"/>
          <p:cNvSpPr/>
          <p:nvPr/>
        </p:nvSpPr>
        <p:spPr>
          <a:xfrm>
            <a:off x="6456680" y="1823720"/>
            <a:ext cx="4803343"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A6E4A"/>
                </a:solidFill>
                <a:latin typeface="IBM Plex Sans" pitchFamily="34" charset="0"/>
                <a:ea typeface="IBM Plex Sans" pitchFamily="34" charset="-122"/>
                <a:cs typeface="IBM Plex Sans" pitchFamily="34" charset="-120"/>
              </a:rPr>
              <a:t>AFTER APPROVAL</a:t>
            </a:r>
            <a:endParaRPr lang="en-US" sz="1200" dirty="0"/>
          </a:p>
        </p:txBody>
      </p:sp>
      <p:sp>
        <p:nvSpPr>
          <p:cNvPr id="11" name="Text 9"/>
          <p:cNvSpPr/>
          <p:nvPr/>
        </p:nvSpPr>
        <p:spPr>
          <a:xfrm>
            <a:off x="6456680" y="2164080"/>
            <a:ext cx="4803343" cy="6096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7251F"/>
                </a:solidFill>
                <a:latin typeface="IBM Plex Sans" pitchFamily="34" charset="0"/>
                <a:ea typeface="IBM Plex Sans" pitchFamily="34" charset="-122"/>
                <a:cs typeface="IBM Plex Sans" pitchFamily="34" charset="-120"/>
              </a:rPr>
              <a:t>Money is released on invoices, not proof</a:t>
            </a:r>
            <a:endParaRPr lang="en-US" sz="2000" dirty="0"/>
          </a:p>
        </p:txBody>
      </p:sp>
      <p:sp>
        <p:nvSpPr>
          <p:cNvPr id="12" name="Text 10"/>
          <p:cNvSpPr/>
          <p:nvPr/>
        </p:nvSpPr>
        <p:spPr>
          <a:xfrm>
            <a:off x="6484112" y="2875280"/>
            <a:ext cx="4769815" cy="1225550"/>
          </a:xfrm>
          <a:prstGeom prst="rect">
            <a:avLst/>
          </a:prstGeom>
          <a:noFill/>
          <a:ln/>
        </p:spPr>
        <p:txBody>
          <a:bodyPr wrap="square" lIns="0" tIns="0" rIns="0" bIns="0" rtlCol="0" anchor="t">
            <a:normAutofit/>
          </a:bodyPr>
          <a:lstStyle/>
          <a:p>
            <a:pPr algn="l" marL="175768" indent="-175768">
              <a:lnSpc>
                <a:spcPts val="1890"/>
              </a:lnSpc>
              <a:buSzPct val="100000"/>
              <a:buChar char="•"/>
            </a:pPr>
            <a:r>
              <a:rPr lang="en-US" sz="1400" dirty="0">
                <a:solidFill>
                  <a:srgbClr val="17251F"/>
                </a:solidFill>
                <a:latin typeface="IBM Plex Sans" pitchFamily="34" charset="0"/>
                <a:ea typeface="IBM Plex Sans" pitchFamily="34" charset="-122"/>
                <a:cs typeface="IBM Plex Sans" pitchFamily="34" charset="-120"/>
              </a:rPr>
              <a:t>There's rarely a systematic check that the approved equipment actually arrived</a:t>
            </a:r>
            <a:endParaRPr lang="en-US" sz="1400" dirty="0"/>
          </a:p>
          <a:p>
            <a:pPr algn="l" marL="175768" indent="-175768">
              <a:lnSpc>
                <a:spcPts val="1890"/>
              </a:lnSpc>
              <a:buSzPct val="100000"/>
              <a:buChar char="•"/>
            </a:pPr>
            <a:r>
              <a:rPr lang="en-US" sz="1400" dirty="0">
                <a:solidFill>
                  <a:srgbClr val="17251F"/>
                </a:solidFill>
                <a:latin typeface="IBM Plex Sans" pitchFamily="34" charset="0"/>
                <a:ea typeface="IBM Plex Sans" pitchFamily="34" charset="-122"/>
                <a:cs typeface="IBM Plex Sans" pitchFamily="34" charset="-120"/>
              </a:rPr>
              <a:t>Wrong models, or equipment already financed by another loan, slip through</a:t>
            </a:r>
            <a:endParaRPr lang="en-US" sz="1400" dirty="0"/>
          </a:p>
          <a:p>
            <a:pPr algn="l" marL="175768" indent="-175768">
              <a:lnSpc>
                <a:spcPts val="1890"/>
              </a:lnSpc>
              <a:buSzPct val="100000"/>
              <a:buChar char="•"/>
            </a:pPr>
            <a:r>
              <a:rPr lang="en-US" sz="1400" dirty="0">
                <a:solidFill>
                  <a:srgbClr val="17251F"/>
                </a:solidFill>
                <a:latin typeface="IBM Plex Sans" pitchFamily="34" charset="0"/>
                <a:ea typeface="IBM Plex Sans" pitchFamily="34" charset="-122"/>
                <a:cs typeface="IBM Plex Sans" pitchFamily="34" charset="-120"/>
              </a:rPr>
              <a:t>No proof the system was ever switched on</a:t>
            </a:r>
            <a:endParaRPr lang="en-US" sz="1400" dirty="0"/>
          </a:p>
        </p:txBody>
      </p:sp>
      <p:sp>
        <p:nvSpPr>
          <p:cNvPr id="13" name="Shape 11"/>
          <p:cNvSpPr/>
          <p:nvPr/>
        </p:nvSpPr>
        <p:spPr>
          <a:xfrm>
            <a:off x="6456680" y="4205605"/>
            <a:ext cx="4663440" cy="0"/>
          </a:xfrm>
          <a:prstGeom prst="line">
            <a:avLst/>
          </a:prstGeom>
          <a:noFill/>
          <a:ln w="6350">
            <a:solidFill>
              <a:srgbClr val="DCD6C8"/>
            </a:solidFill>
            <a:prstDash val="solid"/>
          </a:ln>
        </p:spPr>
      </p:sp>
      <p:sp>
        <p:nvSpPr>
          <p:cNvPr id="14" name="Text 12"/>
          <p:cNvSpPr/>
          <p:nvPr/>
        </p:nvSpPr>
        <p:spPr>
          <a:xfrm>
            <a:off x="6456680" y="4334510"/>
            <a:ext cx="4803343"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A6E4A"/>
                </a:solidFill>
                <a:latin typeface="IBM Plex Sans" pitchFamily="34" charset="0"/>
                <a:ea typeface="IBM Plex Sans" pitchFamily="34" charset="-122"/>
                <a:cs typeface="IBM Plex Sans" pitchFamily="34" charset="-120"/>
              </a:rPr>
              <a:t>Result: loan money can leave the green project, and the bank can't prove it didn't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51F"/>
                </a:solidFill>
                <a:latin typeface="IBM Plex Sans" pitchFamily="34" charset="0"/>
                <a:ea typeface="IBM Plex Sans" pitchFamily="34" charset="-122"/>
                <a:cs typeface="IBM Plex Sans" pitchFamily="34" charset="-120"/>
              </a:rPr>
              <a:t>Compliance is now the bar for green lending</a:t>
            </a:r>
            <a:endParaRPr lang="en-US" sz="3200" dirty="0"/>
          </a:p>
        </p:txBody>
      </p:sp>
      <p:sp>
        <p:nvSpPr>
          <p:cNvPr id="3" name="Shape 1"/>
          <p:cNvSpPr/>
          <p:nvPr/>
        </p:nvSpPr>
        <p:spPr>
          <a:xfrm>
            <a:off x="812800" y="1685291"/>
            <a:ext cx="3386614" cy="0"/>
          </a:xfrm>
          <a:prstGeom prst="line">
            <a:avLst/>
          </a:prstGeom>
          <a:noFill/>
          <a:ln w="38100">
            <a:solidFill>
              <a:srgbClr val="1A6E4A"/>
            </a:solidFill>
            <a:prstDash val="solid"/>
          </a:ln>
        </p:spPr>
      </p:sp>
      <p:sp>
        <p:nvSpPr>
          <p:cNvPr id="4" name="Text 2"/>
          <p:cNvSpPr/>
          <p:nvPr/>
        </p:nvSpPr>
        <p:spPr>
          <a:xfrm>
            <a:off x="812800" y="1905000"/>
            <a:ext cx="348821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A6E4A"/>
                </a:solidFill>
                <a:latin typeface="IBM Plex Sans" pitchFamily="34" charset="0"/>
                <a:ea typeface="IBM Plex Sans" pitchFamily="34" charset="-122"/>
                <a:cs typeface="IBM Plex Sans" pitchFamily="34" charset="-120"/>
              </a:rPr>
              <a:t>NOV 2023</a:t>
            </a:r>
            <a:endParaRPr lang="en-US" sz="1400" dirty="0"/>
          </a:p>
        </p:txBody>
      </p:sp>
      <p:sp>
        <p:nvSpPr>
          <p:cNvPr id="5" name="Text 3"/>
          <p:cNvSpPr/>
          <p:nvPr/>
        </p:nvSpPr>
        <p:spPr>
          <a:xfrm>
            <a:off x="812800" y="2280920"/>
            <a:ext cx="3488212"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51F"/>
                </a:solidFill>
                <a:latin typeface="IBM Plex Sans" pitchFamily="34" charset="0"/>
                <a:ea typeface="IBM Plex Sans" pitchFamily="34" charset="-122"/>
                <a:cs typeface="IBM Plex Sans" pitchFamily="34" charset="-120"/>
              </a:rPr>
              <a:t>CBJ Green Finance Strategy 2023–2028</a:t>
            </a:r>
            <a:endParaRPr lang="en-US" sz="2000" dirty="0"/>
          </a:p>
        </p:txBody>
      </p:sp>
      <p:sp>
        <p:nvSpPr>
          <p:cNvPr id="6" name="Text 4"/>
          <p:cNvSpPr/>
          <p:nvPr/>
        </p:nvSpPr>
        <p:spPr>
          <a:xfrm>
            <a:off x="812800" y="3017520"/>
            <a:ext cx="348821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A43"/>
                </a:solidFill>
                <a:latin typeface="IBM Plex Sans" pitchFamily="34" charset="0"/>
                <a:ea typeface="IBM Plex Sans" pitchFamily="34" charset="-122"/>
                <a:cs typeface="IBM Plex Sans" pitchFamily="34" charset="-120"/>
              </a:rPr>
              <a:t>Guidelines on governance, risk, disclosure and green lending</a:t>
            </a:r>
            <a:endParaRPr lang="en-US" sz="1400" dirty="0"/>
          </a:p>
        </p:txBody>
      </p:sp>
      <p:sp>
        <p:nvSpPr>
          <p:cNvPr id="7" name="Shape 5"/>
          <p:cNvSpPr/>
          <p:nvPr/>
        </p:nvSpPr>
        <p:spPr>
          <a:xfrm>
            <a:off x="4402614" y="1685291"/>
            <a:ext cx="3386693" cy="0"/>
          </a:xfrm>
          <a:prstGeom prst="line">
            <a:avLst/>
          </a:prstGeom>
          <a:noFill/>
          <a:ln w="38100">
            <a:solidFill>
              <a:srgbClr val="1A6E4A"/>
            </a:solidFill>
            <a:prstDash val="solid"/>
          </a:ln>
        </p:spPr>
      </p:sp>
      <p:sp>
        <p:nvSpPr>
          <p:cNvPr id="8" name="Text 6"/>
          <p:cNvSpPr/>
          <p:nvPr/>
        </p:nvSpPr>
        <p:spPr>
          <a:xfrm>
            <a:off x="4402614" y="1905000"/>
            <a:ext cx="348829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A6E4A"/>
                </a:solidFill>
                <a:latin typeface="IBM Plex Sans" pitchFamily="34" charset="0"/>
                <a:ea typeface="IBM Plex Sans" pitchFamily="34" charset="-122"/>
                <a:cs typeface="IBM Plex Sans" pitchFamily="34" charset="-120"/>
              </a:rPr>
              <a:t>FEB 2025</a:t>
            </a:r>
            <a:endParaRPr lang="en-US" sz="1400" dirty="0"/>
          </a:p>
        </p:txBody>
      </p:sp>
      <p:sp>
        <p:nvSpPr>
          <p:cNvPr id="9" name="Text 7"/>
          <p:cNvSpPr/>
          <p:nvPr/>
        </p:nvSpPr>
        <p:spPr>
          <a:xfrm>
            <a:off x="4402614" y="2280920"/>
            <a:ext cx="3488294"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51F"/>
                </a:solidFill>
                <a:latin typeface="IBM Plex Sans" pitchFamily="34" charset="0"/>
                <a:ea typeface="IBM Plex Sans" pitchFamily="34" charset="-122"/>
                <a:cs typeface="IBM Plex Sans" pitchFamily="34" charset="-120"/>
              </a:rPr>
              <a:t>CBJ Climate Risk Instructions No. 2</a:t>
            </a:r>
            <a:endParaRPr lang="en-US" sz="2000" dirty="0"/>
          </a:p>
        </p:txBody>
      </p:sp>
      <p:sp>
        <p:nvSpPr>
          <p:cNvPr id="10" name="Text 8"/>
          <p:cNvSpPr/>
          <p:nvPr/>
        </p:nvSpPr>
        <p:spPr>
          <a:xfrm>
            <a:off x="4402614" y="3017520"/>
            <a:ext cx="348829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A43"/>
                </a:solidFill>
                <a:latin typeface="IBM Plex Sans" pitchFamily="34" charset="0"/>
                <a:ea typeface="IBM Plex Sans" pitchFamily="34" charset="-122"/>
                <a:cs typeface="IBM Plex Sans" pitchFamily="34" charset="-120"/>
              </a:rPr>
              <a:t>Climate checks in credit processing, including environmental approvals</a:t>
            </a:r>
            <a:endParaRPr lang="en-US" sz="1400" dirty="0"/>
          </a:p>
        </p:txBody>
      </p:sp>
      <p:sp>
        <p:nvSpPr>
          <p:cNvPr id="11" name="Shape 9"/>
          <p:cNvSpPr/>
          <p:nvPr/>
        </p:nvSpPr>
        <p:spPr>
          <a:xfrm>
            <a:off x="7992507" y="1685291"/>
            <a:ext cx="3386693" cy="0"/>
          </a:xfrm>
          <a:prstGeom prst="line">
            <a:avLst/>
          </a:prstGeom>
          <a:noFill/>
          <a:ln w="38100">
            <a:solidFill>
              <a:srgbClr val="1A6E4A"/>
            </a:solidFill>
            <a:prstDash val="solid"/>
          </a:ln>
        </p:spPr>
      </p:sp>
      <p:sp>
        <p:nvSpPr>
          <p:cNvPr id="12" name="Text 10"/>
          <p:cNvSpPr/>
          <p:nvPr/>
        </p:nvSpPr>
        <p:spPr>
          <a:xfrm>
            <a:off x="7992507" y="1905000"/>
            <a:ext cx="348829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A6E4A"/>
                </a:solidFill>
                <a:latin typeface="IBM Plex Sans" pitchFamily="34" charset="0"/>
                <a:ea typeface="IBM Plex Sans" pitchFamily="34" charset="-122"/>
                <a:cs typeface="IBM Plex Sans" pitchFamily="34" charset="-120"/>
              </a:rPr>
              <a:t>FEB 2026</a:t>
            </a:r>
            <a:endParaRPr lang="en-US" sz="1400" dirty="0"/>
          </a:p>
        </p:txBody>
      </p:sp>
      <p:sp>
        <p:nvSpPr>
          <p:cNvPr id="13" name="Text 11"/>
          <p:cNvSpPr/>
          <p:nvPr/>
        </p:nvSpPr>
        <p:spPr>
          <a:xfrm>
            <a:off x="7992507" y="2280920"/>
            <a:ext cx="3488294"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51F"/>
                </a:solidFill>
                <a:latin typeface="IBM Plex Sans" pitchFamily="34" charset="0"/>
                <a:ea typeface="IBM Plex Sans" pitchFamily="34" charset="-122"/>
                <a:cs typeface="IBM Plex Sans" pitchFamily="34" charset="-120"/>
              </a:rPr>
              <a:t>Jordan National Green Taxonomy</a:t>
            </a:r>
            <a:endParaRPr lang="en-US" sz="2000" dirty="0"/>
          </a:p>
        </p:txBody>
      </p:sp>
      <p:sp>
        <p:nvSpPr>
          <p:cNvPr id="14" name="Text 12"/>
          <p:cNvSpPr/>
          <p:nvPr/>
        </p:nvSpPr>
        <p:spPr>
          <a:xfrm>
            <a:off x="7992507" y="3017520"/>
            <a:ext cx="348829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A43"/>
                </a:solidFill>
                <a:latin typeface="IBM Plex Sans" pitchFamily="34" charset="0"/>
                <a:ea typeface="IBM Plex Sans" pitchFamily="34" charset="-122"/>
                <a:cs typeface="IBM Plex Sans" pitchFamily="34" charset="-120"/>
              </a:rPr>
              <a:t>CBJ and Ministry of Environment, with World Bank and IFC support</a:t>
            </a:r>
            <a:endParaRPr lang="en-US" sz="1400" dirty="0"/>
          </a:p>
        </p:txBody>
      </p:sp>
      <p:sp>
        <p:nvSpPr>
          <p:cNvPr id="15" name="Text 13"/>
          <p:cNvSpPr/>
          <p:nvPr/>
        </p:nvSpPr>
        <p:spPr>
          <a:xfrm>
            <a:off x="812800" y="3921761"/>
            <a:ext cx="10566400" cy="939800"/>
          </a:xfrm>
          <a:prstGeom prst="roundRect">
            <a:avLst>
              <a:gd name="adj" fmla="val 10811"/>
            </a:avLst>
          </a:prstGeom>
          <a:solidFill>
            <a:srgbClr val="0E2A23"/>
          </a:solidFill>
          <a:ln/>
        </p:spPr>
        <p:txBody>
          <a:bodyPr wrap="square" lIns="275042" tIns="275042" rIns="0" bIns="249642" rtlCol="0" anchor="t">
            <a:normAutofit/>
          </a:bodyPr>
          <a:lstStyle/>
          <a:p>
            <a:pPr algn="l" indent="0" marL="0">
              <a:lnSpc>
                <a:spcPts val="2600"/>
              </a:lnSpc>
              <a:buNone/>
            </a:pPr>
            <a:r>
              <a:rPr lang="en-US" sz="2000" dirty="0">
                <a:solidFill>
                  <a:srgbClr val="F3F0E6"/>
                </a:solidFill>
                <a:latin typeface="IBM Plex Sans" pitchFamily="34" charset="0"/>
                <a:ea typeface="IBM Plex Sans" pitchFamily="34" charset="-122"/>
                <a:cs typeface="IBM Plex Sans" pitchFamily="34" charset="-120"/>
              </a:rPr>
              <a:t>Tahaqqaq turns these rules into checks, </a:t>
            </a:r>
            <a:r>
              <a:rPr lang="en-US" sz="2000" dirty="0">
                <a:solidFill>
                  <a:srgbClr val="6FD3A0"/>
                </a:solidFill>
                <a:latin typeface="IBM Plex Sans" pitchFamily="34" charset="0"/>
                <a:ea typeface="IBM Plex Sans" pitchFamily="34" charset="-122"/>
                <a:cs typeface="IBM Plex Sans" pitchFamily="34" charset="-120"/>
              </a:rPr>
              <a:t>each one linked to the page it comes from.</a:t>
            </a:r>
            <a:endParaRPr lang="en-US" sz="2000" dirty="0"/>
          </a:p>
        </p:txBody>
      </p:sp>
      <p:sp>
        <p:nvSpPr>
          <p:cNvPr id="16" name="Text 14"/>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35C"/>
                </a:solidFill>
                <a:latin typeface="IBM Plex Sans" pitchFamily="34" charset="0"/>
                <a:ea typeface="IBM Plex Sans" pitchFamily="34" charset="-122"/>
                <a:cs typeface="IBM Plex Sans" pitchFamily="34" charset="-120"/>
              </a:rPr>
              <a:t>Sources: World Bank [R3]; CBJ Instructions No. 2 of 2025 [R5]; CBJ &amp; MoEnv taxonomy [R1]; Reform Secretariat [R2]</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2A23"/>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3F0E6"/>
                </a:solidFill>
                <a:latin typeface="IBM Plex Sans" pitchFamily="34" charset="0"/>
                <a:ea typeface="IBM Plex Sans" pitchFamily="34" charset="-122"/>
                <a:cs typeface="IBM Plex Sans" pitchFamily="34" charset="-120"/>
              </a:rPr>
              <a:t>Our solution: verify twice</a:t>
            </a:r>
            <a:endParaRPr lang="en-US" sz="3200" dirty="0"/>
          </a:p>
        </p:txBody>
      </p:sp>
      <p:sp>
        <p:nvSpPr>
          <p:cNvPr id="3" name="Shape 1"/>
          <p:cNvSpPr/>
          <p:nvPr/>
        </p:nvSpPr>
        <p:spPr>
          <a:xfrm>
            <a:off x="812800" y="2252346"/>
            <a:ext cx="8356600" cy="0"/>
          </a:xfrm>
          <a:prstGeom prst="line">
            <a:avLst/>
          </a:prstGeom>
          <a:noFill/>
          <a:ln w="12700">
            <a:solidFill>
              <a:srgbClr val="6FD3A0"/>
            </a:solidFill>
            <a:prstDash val="solid"/>
          </a:ln>
        </p:spPr>
      </p:sp>
      <p:sp>
        <p:nvSpPr>
          <p:cNvPr id="4" name="Text 2"/>
          <p:cNvSpPr/>
          <p:nvPr/>
        </p:nvSpPr>
        <p:spPr>
          <a:xfrm>
            <a:off x="812800" y="1941196"/>
            <a:ext cx="8607298"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6FD3A0"/>
                </a:solidFill>
                <a:latin typeface="IBM Plex Sans" pitchFamily="34" charset="0"/>
                <a:ea typeface="IBM Plex Sans" pitchFamily="34" charset="-122"/>
                <a:cs typeface="IBM Plex Sans" pitchFamily="34" charset="-120"/>
              </a:rPr>
              <a:t>PHASE 1 · APPLICATION SCREENING</a:t>
            </a:r>
            <a:endParaRPr lang="en-US" sz="1300" dirty="0"/>
          </a:p>
        </p:txBody>
      </p:sp>
      <p:sp>
        <p:nvSpPr>
          <p:cNvPr id="5" name="Shape 3"/>
          <p:cNvSpPr/>
          <p:nvPr/>
        </p:nvSpPr>
        <p:spPr>
          <a:xfrm>
            <a:off x="9626600" y="2252346"/>
            <a:ext cx="1752600" cy="0"/>
          </a:xfrm>
          <a:prstGeom prst="line">
            <a:avLst/>
          </a:prstGeom>
          <a:noFill/>
          <a:ln w="12700">
            <a:solidFill>
              <a:srgbClr val="6FD3A0"/>
            </a:solidFill>
            <a:prstDash val="solid"/>
          </a:ln>
        </p:spPr>
      </p:sp>
      <p:sp>
        <p:nvSpPr>
          <p:cNvPr id="6" name="Text 4"/>
          <p:cNvSpPr/>
          <p:nvPr/>
        </p:nvSpPr>
        <p:spPr>
          <a:xfrm>
            <a:off x="9626600" y="1941196"/>
            <a:ext cx="1805178"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6FD3A0"/>
                </a:solidFill>
                <a:latin typeface="IBM Plex Sans" pitchFamily="34" charset="0"/>
                <a:ea typeface="IBM Plex Sans" pitchFamily="34" charset="-122"/>
                <a:cs typeface="IBM Plex Sans" pitchFamily="34" charset="-120"/>
              </a:rPr>
              <a:t>PHASE 2 · SITE</a:t>
            </a:r>
            <a:endParaRPr lang="en-US" sz="1300" dirty="0"/>
          </a:p>
        </p:txBody>
      </p:sp>
      <p:sp>
        <p:nvSpPr>
          <p:cNvPr id="7" name="Shape 5"/>
          <p:cNvSpPr/>
          <p:nvPr/>
        </p:nvSpPr>
        <p:spPr>
          <a:xfrm>
            <a:off x="812800" y="2385696"/>
            <a:ext cx="1747520" cy="2251710"/>
          </a:xfrm>
          <a:prstGeom prst="roundRect">
            <a:avLst>
              <a:gd name="adj" fmla="val 5814"/>
            </a:avLst>
          </a:prstGeom>
          <a:solidFill>
            <a:srgbClr val="173A31"/>
          </a:solidFill>
          <a:ln/>
        </p:spPr>
      </p:sp>
      <p:sp>
        <p:nvSpPr>
          <p:cNvPr id="8" name="Text 6"/>
          <p:cNvSpPr/>
          <p:nvPr/>
        </p:nvSpPr>
        <p:spPr>
          <a:xfrm>
            <a:off x="1016000" y="2588896"/>
            <a:ext cx="139192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FD3A0"/>
                </a:solidFill>
                <a:latin typeface="IBM Plex Sans" pitchFamily="34" charset="0"/>
                <a:ea typeface="IBM Plex Sans" pitchFamily="34" charset="-122"/>
                <a:cs typeface="IBM Plex Sans" pitchFamily="34" charset="-120"/>
              </a:rPr>
              <a:t>1 · AI</a:t>
            </a:r>
            <a:endParaRPr lang="en-US" sz="1200" dirty="0"/>
          </a:p>
        </p:txBody>
      </p:sp>
      <p:sp>
        <p:nvSpPr>
          <p:cNvPr id="9" name="Text 7"/>
          <p:cNvSpPr/>
          <p:nvPr/>
        </p:nvSpPr>
        <p:spPr>
          <a:xfrm>
            <a:off x="1016000" y="2903857"/>
            <a:ext cx="1391920" cy="28829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F3F0E6"/>
                </a:solidFill>
                <a:latin typeface="IBM Plex Sans" pitchFamily="34" charset="0"/>
                <a:ea typeface="IBM Plex Sans" pitchFamily="34" charset="-122"/>
                <a:cs typeface="IBM Plex Sans" pitchFamily="34" charset="-120"/>
              </a:rPr>
              <a:t>AI reads</a:t>
            </a:r>
            <a:endParaRPr lang="en-US" sz="1800" dirty="0"/>
          </a:p>
        </p:txBody>
      </p:sp>
      <p:sp>
        <p:nvSpPr>
          <p:cNvPr id="10" name="Text 8"/>
          <p:cNvSpPr/>
          <p:nvPr/>
        </p:nvSpPr>
        <p:spPr>
          <a:xfrm>
            <a:off x="1016000" y="3268346"/>
            <a:ext cx="139192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CF"/>
                </a:solidFill>
                <a:latin typeface="IBM Plex Sans" pitchFamily="34" charset="0"/>
                <a:ea typeface="IBM Plex Sans" pitchFamily="34" charset="-122"/>
                <a:cs typeface="IBM Plex Sans" pitchFamily="34" charset="-120"/>
              </a:rPr>
              <a:t>Pulls each number and the sentence it came from</a:t>
            </a:r>
            <a:endParaRPr lang="en-US" sz="1200" dirty="0"/>
          </a:p>
        </p:txBody>
      </p:sp>
      <p:pic>
        <p:nvPicPr>
          <p:cNvPr id="11" name="Image 0" descr="arrow-right">    </p:cNvPr>
          <p:cNvPicPr>
            <a:picLocks noChangeAspect="1"/>
          </p:cNvPicPr>
          <p:nvPr/>
        </p:nvPicPr>
        <p:blipFill>
          <a:blip r:embed="rId1"/>
          <a:srcRect l="0" r="0" t="0" b="0"/>
          <a:stretch/>
        </p:blipFill>
        <p:spPr>
          <a:xfrm>
            <a:off x="2661920" y="3384550"/>
            <a:ext cx="254000" cy="254000"/>
          </a:xfrm>
          <a:prstGeom prst="rect">
            <a:avLst/>
          </a:prstGeom>
        </p:spPr>
      </p:pic>
      <p:sp>
        <p:nvSpPr>
          <p:cNvPr id="12" name="Shape 9"/>
          <p:cNvSpPr/>
          <p:nvPr/>
        </p:nvSpPr>
        <p:spPr>
          <a:xfrm>
            <a:off x="3017520" y="2385696"/>
            <a:ext cx="1747520" cy="2251710"/>
          </a:xfrm>
          <a:prstGeom prst="roundRect">
            <a:avLst>
              <a:gd name="adj" fmla="val 5814"/>
            </a:avLst>
          </a:prstGeom>
          <a:solidFill>
            <a:srgbClr val="173A31"/>
          </a:solidFill>
          <a:ln/>
        </p:spPr>
      </p:sp>
      <p:sp>
        <p:nvSpPr>
          <p:cNvPr id="13" name="Text 10"/>
          <p:cNvSpPr/>
          <p:nvPr/>
        </p:nvSpPr>
        <p:spPr>
          <a:xfrm>
            <a:off x="3220720" y="2588896"/>
            <a:ext cx="139192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FD3A0"/>
                </a:solidFill>
                <a:latin typeface="IBM Plex Sans" pitchFamily="34" charset="0"/>
                <a:ea typeface="IBM Plex Sans" pitchFamily="34" charset="-122"/>
                <a:cs typeface="IBM Plex Sans" pitchFamily="34" charset="-120"/>
              </a:rPr>
              <a:t>2 · CODE</a:t>
            </a:r>
            <a:endParaRPr lang="en-US" sz="1200" dirty="0"/>
          </a:p>
        </p:txBody>
      </p:sp>
      <p:sp>
        <p:nvSpPr>
          <p:cNvPr id="14" name="Text 11"/>
          <p:cNvSpPr/>
          <p:nvPr/>
        </p:nvSpPr>
        <p:spPr>
          <a:xfrm>
            <a:off x="3220720" y="2903857"/>
            <a:ext cx="1391920" cy="28829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F3F0E6"/>
                </a:solidFill>
                <a:latin typeface="IBM Plex Sans" pitchFamily="34" charset="0"/>
                <a:ea typeface="IBM Plex Sans" pitchFamily="34" charset="-122"/>
                <a:cs typeface="IBM Plex Sans" pitchFamily="34" charset="-120"/>
              </a:rPr>
              <a:t>Rules check</a:t>
            </a:r>
            <a:endParaRPr lang="en-US" sz="1800" dirty="0"/>
          </a:p>
        </p:txBody>
      </p:sp>
      <p:sp>
        <p:nvSpPr>
          <p:cNvPr id="15" name="Text 12"/>
          <p:cNvSpPr/>
          <p:nvPr/>
        </p:nvSpPr>
        <p:spPr>
          <a:xfrm>
            <a:off x="3220720" y="3268346"/>
            <a:ext cx="139192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CF"/>
                </a:solidFill>
                <a:latin typeface="IBM Plex Sans" pitchFamily="34" charset="0"/>
                <a:ea typeface="IBM Plex Sans" pitchFamily="34" charset="-122"/>
                <a:cs typeface="IBM Plex Sans" pitchFamily="34" charset="-120"/>
              </a:rPr>
              <a:t>Written rules, each linked to its source</a:t>
            </a:r>
            <a:endParaRPr lang="en-US" sz="1200" dirty="0"/>
          </a:p>
        </p:txBody>
      </p:sp>
      <p:pic>
        <p:nvPicPr>
          <p:cNvPr id="16" name="Image 1" descr="arrow-right">    </p:cNvPr>
          <p:cNvPicPr>
            <a:picLocks noChangeAspect="1"/>
          </p:cNvPicPr>
          <p:nvPr/>
        </p:nvPicPr>
        <p:blipFill>
          <a:blip r:embed="rId2"/>
          <a:srcRect l="0" r="0" t="0" b="0"/>
          <a:stretch/>
        </p:blipFill>
        <p:spPr>
          <a:xfrm>
            <a:off x="4866640" y="3384550"/>
            <a:ext cx="254000" cy="254000"/>
          </a:xfrm>
          <a:prstGeom prst="rect">
            <a:avLst/>
          </a:prstGeom>
        </p:spPr>
      </p:pic>
      <p:sp>
        <p:nvSpPr>
          <p:cNvPr id="17" name="Shape 13"/>
          <p:cNvSpPr/>
          <p:nvPr/>
        </p:nvSpPr>
        <p:spPr>
          <a:xfrm>
            <a:off x="5222240" y="2385696"/>
            <a:ext cx="1747520" cy="2251710"/>
          </a:xfrm>
          <a:prstGeom prst="roundRect">
            <a:avLst>
              <a:gd name="adj" fmla="val 5814"/>
            </a:avLst>
          </a:prstGeom>
          <a:solidFill>
            <a:srgbClr val="173A31"/>
          </a:solidFill>
          <a:ln/>
        </p:spPr>
      </p:sp>
      <p:sp>
        <p:nvSpPr>
          <p:cNvPr id="18" name="Text 14"/>
          <p:cNvSpPr/>
          <p:nvPr/>
        </p:nvSpPr>
        <p:spPr>
          <a:xfrm>
            <a:off x="5425440" y="2588896"/>
            <a:ext cx="139192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FD3A0"/>
                </a:solidFill>
                <a:latin typeface="IBM Plex Sans" pitchFamily="34" charset="0"/>
                <a:ea typeface="IBM Plex Sans" pitchFamily="34" charset="-122"/>
                <a:cs typeface="IBM Plex Sans" pitchFamily="34" charset="-120"/>
              </a:rPr>
              <a:t>3 · CODE</a:t>
            </a:r>
            <a:endParaRPr lang="en-US" sz="1200" dirty="0"/>
          </a:p>
        </p:txBody>
      </p:sp>
      <p:sp>
        <p:nvSpPr>
          <p:cNvPr id="19" name="Text 15"/>
          <p:cNvSpPr/>
          <p:nvPr/>
        </p:nvSpPr>
        <p:spPr>
          <a:xfrm>
            <a:off x="5425440" y="2903857"/>
            <a:ext cx="1391920" cy="55118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F3F0E6"/>
                </a:solidFill>
                <a:latin typeface="IBM Plex Sans" pitchFamily="34" charset="0"/>
                <a:ea typeface="IBM Plex Sans" pitchFamily="34" charset="-122"/>
                <a:cs typeface="IBM Plex Sans" pitchFamily="34" charset="-120"/>
              </a:rPr>
              <a:t>Code calculates</a:t>
            </a:r>
            <a:endParaRPr lang="en-US" sz="1800" dirty="0"/>
          </a:p>
        </p:txBody>
      </p:sp>
      <p:sp>
        <p:nvSpPr>
          <p:cNvPr id="20" name="Text 16"/>
          <p:cNvSpPr/>
          <p:nvPr/>
        </p:nvSpPr>
        <p:spPr>
          <a:xfrm>
            <a:off x="5425440" y="3531236"/>
            <a:ext cx="139192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CF"/>
                </a:solidFill>
                <a:latin typeface="IBM Plex Sans" pitchFamily="34" charset="0"/>
                <a:ea typeface="IBM Plex Sans" pitchFamily="34" charset="-122"/>
                <a:cs typeface="IBM Plex Sans" pitchFamily="34" charset="-120"/>
              </a:rPr>
              <a:t>Claims capped at published benchmarks</a:t>
            </a:r>
            <a:endParaRPr lang="en-US" sz="1200" dirty="0"/>
          </a:p>
        </p:txBody>
      </p:sp>
      <p:pic>
        <p:nvPicPr>
          <p:cNvPr id="21" name="Image 2" descr="arrow-right">    </p:cNvPr>
          <p:cNvPicPr>
            <a:picLocks noChangeAspect="1"/>
          </p:cNvPicPr>
          <p:nvPr/>
        </p:nvPicPr>
        <p:blipFill>
          <a:blip r:embed="rId3"/>
          <a:srcRect l="0" r="0" t="0" b="0"/>
          <a:stretch/>
        </p:blipFill>
        <p:spPr>
          <a:xfrm>
            <a:off x="7071360" y="3384550"/>
            <a:ext cx="254000" cy="254000"/>
          </a:xfrm>
          <a:prstGeom prst="rect">
            <a:avLst/>
          </a:prstGeom>
        </p:spPr>
      </p:pic>
      <p:sp>
        <p:nvSpPr>
          <p:cNvPr id="22" name="Shape 17"/>
          <p:cNvSpPr/>
          <p:nvPr/>
        </p:nvSpPr>
        <p:spPr>
          <a:xfrm>
            <a:off x="7426960" y="2385696"/>
            <a:ext cx="1747520" cy="2251710"/>
          </a:xfrm>
          <a:prstGeom prst="roundRect">
            <a:avLst>
              <a:gd name="adj" fmla="val 5814"/>
            </a:avLst>
          </a:prstGeom>
          <a:solidFill>
            <a:srgbClr val="173A31"/>
          </a:solidFill>
          <a:ln/>
        </p:spPr>
      </p:sp>
      <p:sp>
        <p:nvSpPr>
          <p:cNvPr id="23" name="Text 18"/>
          <p:cNvSpPr/>
          <p:nvPr/>
        </p:nvSpPr>
        <p:spPr>
          <a:xfrm>
            <a:off x="7630160" y="2588896"/>
            <a:ext cx="139192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FD3A0"/>
                </a:solidFill>
                <a:latin typeface="IBM Plex Sans" pitchFamily="34" charset="0"/>
                <a:ea typeface="IBM Plex Sans" pitchFamily="34" charset="-122"/>
                <a:cs typeface="IBM Plex Sans" pitchFamily="34" charset="-120"/>
              </a:rPr>
              <a:t>4 · PERSON</a:t>
            </a:r>
            <a:endParaRPr lang="en-US" sz="1200" dirty="0"/>
          </a:p>
        </p:txBody>
      </p:sp>
      <p:sp>
        <p:nvSpPr>
          <p:cNvPr id="24" name="Text 19"/>
          <p:cNvSpPr/>
          <p:nvPr/>
        </p:nvSpPr>
        <p:spPr>
          <a:xfrm>
            <a:off x="7630160" y="2903857"/>
            <a:ext cx="1391920" cy="55118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F3F0E6"/>
                </a:solidFill>
                <a:latin typeface="IBM Plex Sans" pitchFamily="34" charset="0"/>
                <a:ea typeface="IBM Plex Sans" pitchFamily="34" charset="-122"/>
                <a:cs typeface="IBM Plex Sans" pitchFamily="34" charset="-120"/>
              </a:rPr>
              <a:t>Bank decides</a:t>
            </a:r>
            <a:endParaRPr lang="en-US" sz="1800" dirty="0"/>
          </a:p>
        </p:txBody>
      </p:sp>
      <p:sp>
        <p:nvSpPr>
          <p:cNvPr id="25" name="Text 20"/>
          <p:cNvSpPr/>
          <p:nvPr/>
        </p:nvSpPr>
        <p:spPr>
          <a:xfrm>
            <a:off x="7630160" y="3531236"/>
            <a:ext cx="139192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CF"/>
                </a:solidFill>
                <a:latin typeface="IBM Plex Sans" pitchFamily="34" charset="0"/>
                <a:ea typeface="IBM Plex Sans" pitchFamily="34" charset="-122"/>
                <a:cs typeface="IBM Plex Sans" pitchFamily="34" charset="-120"/>
              </a:rPr>
              <a:t>An officer confirms values and approves</a:t>
            </a:r>
            <a:endParaRPr lang="en-US" sz="1200" dirty="0"/>
          </a:p>
        </p:txBody>
      </p:sp>
      <p:pic>
        <p:nvPicPr>
          <p:cNvPr id="26" name="Image 3" descr="arrow-right">    </p:cNvPr>
          <p:cNvPicPr>
            <a:picLocks noChangeAspect="1"/>
          </p:cNvPicPr>
          <p:nvPr/>
        </p:nvPicPr>
        <p:blipFill>
          <a:blip r:embed="rId4"/>
          <a:srcRect l="0" r="0" t="0" b="0"/>
          <a:stretch/>
        </p:blipFill>
        <p:spPr>
          <a:xfrm>
            <a:off x="9276080" y="3384550"/>
            <a:ext cx="254000" cy="254000"/>
          </a:xfrm>
          <a:prstGeom prst="rect">
            <a:avLst/>
          </a:prstGeom>
        </p:spPr>
      </p:pic>
      <p:sp>
        <p:nvSpPr>
          <p:cNvPr id="27" name="Shape 21"/>
          <p:cNvSpPr/>
          <p:nvPr/>
        </p:nvSpPr>
        <p:spPr>
          <a:xfrm>
            <a:off x="9631680" y="2385696"/>
            <a:ext cx="1747520" cy="2251710"/>
          </a:xfrm>
          <a:prstGeom prst="roundRect">
            <a:avLst>
              <a:gd name="adj" fmla="val 5814"/>
            </a:avLst>
          </a:prstGeom>
          <a:solidFill>
            <a:srgbClr val="173A31"/>
          </a:solidFill>
          <a:ln/>
        </p:spPr>
      </p:sp>
      <p:sp>
        <p:nvSpPr>
          <p:cNvPr id="28" name="Text 22"/>
          <p:cNvSpPr/>
          <p:nvPr/>
        </p:nvSpPr>
        <p:spPr>
          <a:xfrm>
            <a:off x="9834880" y="2588896"/>
            <a:ext cx="139192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FD3A0"/>
                </a:solidFill>
                <a:latin typeface="IBM Plex Sans" pitchFamily="34" charset="0"/>
                <a:ea typeface="IBM Plex Sans" pitchFamily="34" charset="-122"/>
                <a:cs typeface="IBM Plex Sans" pitchFamily="34" charset="-120"/>
              </a:rPr>
              <a:t>5 · SITE</a:t>
            </a:r>
            <a:endParaRPr lang="en-US" sz="1200" dirty="0"/>
          </a:p>
        </p:txBody>
      </p:sp>
      <p:sp>
        <p:nvSpPr>
          <p:cNvPr id="29" name="Text 23"/>
          <p:cNvSpPr/>
          <p:nvPr/>
        </p:nvSpPr>
        <p:spPr>
          <a:xfrm>
            <a:off x="9834880" y="2903857"/>
            <a:ext cx="1391920" cy="81407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F3F0E6"/>
                </a:solidFill>
                <a:latin typeface="IBM Plex Sans" pitchFamily="34" charset="0"/>
                <a:ea typeface="IBM Plex Sans" pitchFamily="34" charset="-122"/>
                <a:cs typeface="IBM Plex Sans" pitchFamily="34" charset="-120"/>
              </a:rPr>
              <a:t>Site checks release payment</a:t>
            </a:r>
            <a:endParaRPr lang="en-US" sz="1800" dirty="0"/>
          </a:p>
        </p:txBody>
      </p:sp>
      <p:sp>
        <p:nvSpPr>
          <p:cNvPr id="30" name="Text 24"/>
          <p:cNvSpPr/>
          <p:nvPr/>
        </p:nvSpPr>
        <p:spPr>
          <a:xfrm>
            <a:off x="9834880" y="3794125"/>
            <a:ext cx="139192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CF"/>
                </a:solidFill>
                <a:latin typeface="IBM Plex Sans" pitchFamily="34" charset="0"/>
                <a:ea typeface="IBM Plex Sans" pitchFamily="34" charset="-122"/>
                <a:cs typeface="IBM Plex Sans" pitchFamily="34" charset="-120"/>
              </a:rPr>
              <a:t>Scans and photos unlock each payment</a:t>
            </a:r>
            <a:endParaRPr lang="en-US" sz="1200" dirty="0"/>
          </a:p>
        </p:txBody>
      </p:sp>
      <p:sp>
        <p:nvSpPr>
          <p:cNvPr id="31" name="Text 25"/>
          <p:cNvSpPr/>
          <p:nvPr/>
        </p:nvSpPr>
        <p:spPr>
          <a:xfrm>
            <a:off x="812800" y="5318761"/>
            <a:ext cx="9810750" cy="75184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F3F0E6"/>
                </a:solidFill>
                <a:latin typeface="IBM Plex Sans" pitchFamily="34" charset="0"/>
                <a:ea typeface="IBM Plex Sans" pitchFamily="34" charset="-122"/>
                <a:cs typeface="IBM Plex Sans" pitchFamily="34" charset="-120"/>
              </a:rPr>
              <a:t>The AI never decides. Its answer counts only if the quote is </a:t>
            </a:r>
            <a:r>
              <a:rPr lang="en-US" sz="2200" dirty="0">
                <a:solidFill>
                  <a:srgbClr val="6FD3A0"/>
                </a:solidFill>
                <a:latin typeface="IBM Plex Sans" pitchFamily="34" charset="0"/>
                <a:ea typeface="IBM Plex Sans" pitchFamily="34" charset="-122"/>
                <a:cs typeface="IBM Plex Sans" pitchFamily="34" charset="-120"/>
              </a:rPr>
              <a:t>found on the page</a:t>
            </a:r>
            <a:r>
              <a:rPr lang="en-US" sz="2200" dirty="0">
                <a:solidFill>
                  <a:srgbClr val="F3F0E6"/>
                </a:solidFill>
                <a:latin typeface="IBM Plex Sans" pitchFamily="34" charset="0"/>
                <a:ea typeface="IBM Plex Sans" pitchFamily="34" charset="-122"/>
                <a:cs typeface="IBM Plex Sans" pitchFamily="34" charset="-120"/>
              </a:rPr>
              <a:t> and a person confirms it.</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2A23"/>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3F0E6"/>
                </a:solidFill>
                <a:latin typeface="IBM Plex Sans" pitchFamily="34" charset="0"/>
                <a:ea typeface="IBM Plex Sans" pitchFamily="34" charset="-122"/>
                <a:cs typeface="IBM Plex Sans" pitchFamily="34" charset="-120"/>
              </a:rPr>
              <a:t>Proposed production system</a:t>
            </a:r>
            <a:endParaRPr lang="en-US" sz="3200" dirty="0"/>
          </a:p>
        </p:txBody>
      </p:sp>
      <p:sp>
        <p:nvSpPr>
          <p:cNvPr id="3" name="Text 1"/>
          <p:cNvSpPr/>
          <p:nvPr/>
        </p:nvSpPr>
        <p:spPr>
          <a:xfrm>
            <a:off x="812800" y="1336039"/>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9D6CF"/>
                </a:solidFill>
                <a:latin typeface="IBM Plex Sans" pitchFamily="34" charset="0"/>
                <a:ea typeface="IBM Plex Sans" pitchFamily="34" charset="-122"/>
                <a:cs typeface="IBM Plex Sans" pitchFamily="34" charset="-120"/>
              </a:rPr>
              <a:t>What we would build with a pilot bank. The prototype you'll see runs offline on a laptop.</a:t>
            </a:r>
            <a:endParaRPr lang="en-US" sz="1500" dirty="0"/>
          </a:p>
        </p:txBody>
      </p:sp>
      <p:sp>
        <p:nvSpPr>
          <p:cNvPr id="4" name="Shape 2"/>
          <p:cNvSpPr/>
          <p:nvPr/>
        </p:nvSpPr>
        <p:spPr>
          <a:xfrm>
            <a:off x="812800" y="2155189"/>
            <a:ext cx="5080000" cy="0"/>
          </a:xfrm>
          <a:prstGeom prst="line">
            <a:avLst/>
          </a:prstGeom>
          <a:noFill/>
          <a:ln w="12700">
            <a:solidFill>
              <a:srgbClr val="6FD3A0"/>
            </a:solidFill>
            <a:prstDash val="solid"/>
          </a:ln>
        </p:spPr>
      </p:sp>
      <p:sp>
        <p:nvSpPr>
          <p:cNvPr id="5" name="Text 3"/>
          <p:cNvSpPr/>
          <p:nvPr/>
        </p:nvSpPr>
        <p:spPr>
          <a:xfrm>
            <a:off x="812800" y="1856739"/>
            <a:ext cx="5232400"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6FD3A0"/>
                </a:solidFill>
                <a:latin typeface="IBM Plex Sans" pitchFamily="34" charset="0"/>
                <a:ea typeface="IBM Plex Sans" pitchFamily="34" charset="-122"/>
                <a:cs typeface="IBM Plex Sans" pitchFamily="34" charset="-120"/>
              </a:rPr>
              <a:t>CORE PLATFORM</a:t>
            </a:r>
            <a:endParaRPr lang="en-US" sz="1300" dirty="0"/>
          </a:p>
        </p:txBody>
      </p:sp>
      <p:sp>
        <p:nvSpPr>
          <p:cNvPr id="6" name="Text 4"/>
          <p:cNvSpPr/>
          <p:nvPr/>
        </p:nvSpPr>
        <p:spPr>
          <a:xfrm>
            <a:off x="812800" y="2237739"/>
            <a:ext cx="5232400" cy="23114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6FD3A0"/>
                </a:solidFill>
                <a:latin typeface="IBM Plex Sans" pitchFamily="34" charset="0"/>
                <a:ea typeface="IBM Plex Sans" pitchFamily="34" charset="-122"/>
                <a:cs typeface="IBM Plex Sans" pitchFamily="34" charset="-120"/>
              </a:rPr>
              <a:t>Hosting:</a:t>
            </a:r>
            <a:r>
              <a:rPr lang="en-US" sz="1200" dirty="0">
                <a:solidFill>
                  <a:srgbClr val="F3F0E6"/>
                </a:solidFill>
                <a:latin typeface="IBM Plex Sans" pitchFamily="34" charset="0"/>
                <a:ea typeface="IBM Plex Sans" pitchFamily="34" charset="-122"/>
                <a:cs typeface="IBM Plex Sans" pitchFamily="34" charset="-120"/>
              </a:rPr>
              <a:t> bank-approved infrastructure with managed HTTPS</a:t>
            </a:r>
            <a:endParaRPr lang="en-US" sz="1200" dirty="0"/>
          </a:p>
        </p:txBody>
      </p:sp>
      <p:sp>
        <p:nvSpPr>
          <p:cNvPr id="7" name="Text 5"/>
          <p:cNvSpPr/>
          <p:nvPr/>
        </p:nvSpPr>
        <p:spPr>
          <a:xfrm>
            <a:off x="812800" y="2519682"/>
            <a:ext cx="5232400" cy="23114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6FD3A0"/>
                </a:solidFill>
                <a:latin typeface="IBM Plex Sans" pitchFamily="34" charset="0"/>
                <a:ea typeface="IBM Plex Sans" pitchFamily="34" charset="-122"/>
                <a:cs typeface="IBM Plex Sans" pitchFamily="34" charset="-120"/>
              </a:rPr>
              <a:t>App:</a:t>
            </a:r>
            <a:r>
              <a:rPr lang="en-US" sz="1200" dirty="0">
                <a:solidFill>
                  <a:srgbClr val="F3F0E6"/>
                </a:solidFill>
                <a:latin typeface="IBM Plex Sans" pitchFamily="34" charset="0"/>
                <a:ea typeface="IBM Plex Sans" pitchFamily="34" charset="-122"/>
                <a:cs typeface="IBM Plex Sans" pitchFamily="34" charset="-120"/>
              </a:rPr>
              <a:t> React/TypeScript frontend, Node.js/Express backend</a:t>
            </a:r>
            <a:endParaRPr lang="en-US" sz="1200" dirty="0"/>
          </a:p>
        </p:txBody>
      </p:sp>
      <p:sp>
        <p:nvSpPr>
          <p:cNvPr id="8" name="Text 6"/>
          <p:cNvSpPr/>
          <p:nvPr/>
        </p:nvSpPr>
        <p:spPr>
          <a:xfrm>
            <a:off x="812800" y="2801621"/>
            <a:ext cx="5232400" cy="23114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6FD3A0"/>
                </a:solidFill>
                <a:latin typeface="IBM Plex Sans" pitchFamily="34" charset="0"/>
                <a:ea typeface="IBM Plex Sans" pitchFamily="34" charset="-122"/>
                <a:cs typeface="IBM Plex Sans" pitchFamily="34" charset="-120"/>
              </a:rPr>
              <a:t>Database:</a:t>
            </a:r>
            <a:r>
              <a:rPr lang="en-US" sz="1200" dirty="0">
                <a:solidFill>
                  <a:srgbClr val="F3F0E6"/>
                </a:solidFill>
                <a:latin typeface="IBM Plex Sans" pitchFamily="34" charset="0"/>
                <a:ea typeface="IBM Plex Sans" pitchFamily="34" charset="-122"/>
                <a:cs typeface="IBM Plex Sans" pitchFamily="34" charset="-120"/>
              </a:rPr>
              <a:t> PostgreSQL with access controls, backups and audit history</a:t>
            </a:r>
            <a:endParaRPr lang="en-US" sz="1200" dirty="0"/>
          </a:p>
        </p:txBody>
      </p:sp>
      <p:sp>
        <p:nvSpPr>
          <p:cNvPr id="9" name="Text 7"/>
          <p:cNvSpPr/>
          <p:nvPr/>
        </p:nvSpPr>
        <p:spPr>
          <a:xfrm>
            <a:off x="812800" y="3083561"/>
            <a:ext cx="5232400" cy="23114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6FD3A0"/>
                </a:solidFill>
                <a:latin typeface="IBM Plex Sans" pitchFamily="34" charset="0"/>
                <a:ea typeface="IBM Plex Sans" pitchFamily="34" charset="-122"/>
                <a:cs typeface="IBM Plex Sans" pitchFamily="34" charset="-120"/>
              </a:rPr>
              <a:t>Evidence storage:</a:t>
            </a:r>
            <a:r>
              <a:rPr lang="en-US" sz="1200" dirty="0">
                <a:solidFill>
                  <a:srgbClr val="F3F0E6"/>
                </a:solidFill>
                <a:latin typeface="IBM Plex Sans" pitchFamily="34" charset="0"/>
                <a:ea typeface="IBM Plex Sans" pitchFamily="34" charset="-122"/>
                <a:cs typeface="IBM Plex Sans" pitchFamily="34" charset="-120"/>
              </a:rPr>
              <a:t> encrypted, access-controlled object storage</a:t>
            </a:r>
            <a:endParaRPr lang="en-US" sz="1200" dirty="0"/>
          </a:p>
        </p:txBody>
      </p:sp>
      <p:sp>
        <p:nvSpPr>
          <p:cNvPr id="10" name="Text 8"/>
          <p:cNvSpPr/>
          <p:nvPr/>
        </p:nvSpPr>
        <p:spPr>
          <a:xfrm>
            <a:off x="812800" y="3365500"/>
            <a:ext cx="5232400" cy="23114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6FD3A0"/>
                </a:solidFill>
                <a:latin typeface="IBM Plex Sans" pitchFamily="34" charset="0"/>
                <a:ea typeface="IBM Plex Sans" pitchFamily="34" charset="-122"/>
                <a:cs typeface="IBM Plex Sans" pitchFamily="34" charset="-120"/>
              </a:rPr>
              <a:t>Background jobs:</a:t>
            </a:r>
            <a:r>
              <a:rPr lang="en-US" sz="1200" dirty="0">
                <a:solidFill>
                  <a:srgbClr val="F3F0E6"/>
                </a:solidFill>
                <a:latin typeface="IBM Plex Sans" pitchFamily="34" charset="0"/>
                <a:ea typeface="IBM Plex Sans" pitchFamily="34" charset="-122"/>
                <a:cs typeface="IBM Plex Sans" pitchFamily="34" charset="-120"/>
              </a:rPr>
              <a:t> a queue for OCR and extraction, with retries</a:t>
            </a:r>
            <a:endParaRPr lang="en-US" sz="1200" dirty="0"/>
          </a:p>
        </p:txBody>
      </p:sp>
      <p:sp>
        <p:nvSpPr>
          <p:cNvPr id="11" name="Text 9"/>
          <p:cNvSpPr/>
          <p:nvPr/>
        </p:nvSpPr>
        <p:spPr>
          <a:xfrm>
            <a:off x="812800" y="3647439"/>
            <a:ext cx="5232400"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6FD3A0"/>
                </a:solidFill>
                <a:latin typeface="IBM Plex Sans" pitchFamily="34" charset="0"/>
                <a:ea typeface="IBM Plex Sans" pitchFamily="34" charset="-122"/>
                <a:cs typeface="IBM Plex Sans" pitchFamily="34" charset="-120"/>
              </a:rPr>
              <a:t>Identity:</a:t>
            </a:r>
            <a:r>
              <a:rPr lang="en-US" sz="1200" dirty="0">
                <a:solidFill>
                  <a:srgbClr val="F3F0E6"/>
                </a:solidFill>
                <a:latin typeface="IBM Plex Sans" pitchFamily="34" charset="0"/>
                <a:ea typeface="IBM Plex Sans" pitchFamily="34" charset="-122"/>
                <a:cs typeface="IBM Plex Sans" pitchFamily="34" charset="-120"/>
              </a:rPr>
              <a:t> sign-in and server-enforced roles for bank, institution and installer</a:t>
            </a:r>
            <a:endParaRPr lang="en-US" sz="1200" dirty="0"/>
          </a:p>
        </p:txBody>
      </p:sp>
      <p:sp>
        <p:nvSpPr>
          <p:cNvPr id="12" name="Text 10"/>
          <p:cNvSpPr/>
          <p:nvPr/>
        </p:nvSpPr>
        <p:spPr>
          <a:xfrm>
            <a:off x="812800" y="4135121"/>
            <a:ext cx="5232400" cy="23114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6FD3A0"/>
                </a:solidFill>
                <a:latin typeface="IBM Plex Sans" pitchFamily="34" charset="0"/>
                <a:ea typeface="IBM Plex Sans" pitchFamily="34" charset="-122"/>
                <a:cs typeface="IBM Plex Sans" pitchFamily="34" charset="-120"/>
              </a:rPr>
              <a:t>Operations:</a:t>
            </a:r>
            <a:r>
              <a:rPr lang="en-US" sz="1200" dirty="0">
                <a:solidFill>
                  <a:srgbClr val="F3F0E6"/>
                </a:solidFill>
                <a:latin typeface="IBM Plex Sans" pitchFamily="34" charset="0"/>
                <a:ea typeface="IBM Plex Sans" pitchFamily="34" charset="-122"/>
                <a:cs typeface="IBM Plex Sans" pitchFamily="34" charset="-120"/>
              </a:rPr>
              <a:t> monitoring, logs, secret management, security testing</a:t>
            </a:r>
            <a:endParaRPr lang="en-US" sz="1200" dirty="0"/>
          </a:p>
        </p:txBody>
      </p:sp>
      <p:sp>
        <p:nvSpPr>
          <p:cNvPr id="13" name="Shape 11"/>
          <p:cNvSpPr/>
          <p:nvPr/>
        </p:nvSpPr>
        <p:spPr>
          <a:xfrm>
            <a:off x="6299200" y="2155189"/>
            <a:ext cx="5080000" cy="0"/>
          </a:xfrm>
          <a:prstGeom prst="line">
            <a:avLst/>
          </a:prstGeom>
          <a:noFill/>
          <a:ln w="12700">
            <a:solidFill>
              <a:srgbClr val="6FD3A0"/>
            </a:solidFill>
            <a:prstDash val="solid"/>
          </a:ln>
        </p:spPr>
      </p:sp>
      <p:sp>
        <p:nvSpPr>
          <p:cNvPr id="14" name="Text 12"/>
          <p:cNvSpPr/>
          <p:nvPr/>
        </p:nvSpPr>
        <p:spPr>
          <a:xfrm>
            <a:off x="6299200" y="1856739"/>
            <a:ext cx="5232400"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6FD3A0"/>
                </a:solidFill>
                <a:latin typeface="IBM Plex Sans" pitchFamily="34" charset="0"/>
                <a:ea typeface="IBM Plex Sans" pitchFamily="34" charset="-122"/>
                <a:cs typeface="IBM Plex Sans" pitchFamily="34" charset="-120"/>
              </a:rPr>
              <a:t>VERIFICATION ENGINE</a:t>
            </a:r>
            <a:endParaRPr lang="en-US" sz="1300" dirty="0"/>
          </a:p>
        </p:txBody>
      </p:sp>
      <p:sp>
        <p:nvSpPr>
          <p:cNvPr id="15" name="Text 13"/>
          <p:cNvSpPr/>
          <p:nvPr/>
        </p:nvSpPr>
        <p:spPr>
          <a:xfrm>
            <a:off x="6299200" y="2237739"/>
            <a:ext cx="5232400"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6FD3A0"/>
                </a:solidFill>
                <a:latin typeface="IBM Plex Sans" pitchFamily="34" charset="0"/>
                <a:ea typeface="IBM Plex Sans" pitchFamily="34" charset="-122"/>
                <a:cs typeface="IBM Plex Sans" pitchFamily="34" charset="-120"/>
              </a:rPr>
              <a:t>Document reading:</a:t>
            </a:r>
            <a:r>
              <a:rPr lang="en-US" sz="1200" dirty="0">
                <a:solidFill>
                  <a:srgbClr val="F3F0E6"/>
                </a:solidFill>
                <a:latin typeface="IBM Plex Sans" pitchFamily="34" charset="0"/>
                <a:ea typeface="IBM Plex Sans" pitchFamily="34" charset="-122"/>
                <a:cs typeface="IBM Plex Sans" pitchFamily="34" charset="-120"/>
              </a:rPr>
              <a:t> PDF + Tesseract OCR, tested on Arabic and English documents</a:t>
            </a:r>
            <a:endParaRPr lang="en-US" sz="1200" dirty="0"/>
          </a:p>
        </p:txBody>
      </p:sp>
      <p:sp>
        <p:nvSpPr>
          <p:cNvPr id="16" name="Text 14"/>
          <p:cNvSpPr/>
          <p:nvPr/>
        </p:nvSpPr>
        <p:spPr>
          <a:xfrm>
            <a:off x="6299200" y="2725421"/>
            <a:ext cx="5232400"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6FD3A0"/>
                </a:solidFill>
                <a:latin typeface="IBM Plex Sans" pitchFamily="34" charset="0"/>
                <a:ea typeface="IBM Plex Sans" pitchFamily="34" charset="-122"/>
                <a:cs typeface="IBM Plex Sans" pitchFamily="34" charset="-120"/>
              </a:rPr>
              <a:t>AI extraction:</a:t>
            </a:r>
            <a:r>
              <a:rPr lang="en-US" sz="1200" dirty="0">
                <a:solidFill>
                  <a:srgbClr val="F3F0E6"/>
                </a:solidFill>
                <a:latin typeface="IBM Plex Sans" pitchFamily="34" charset="0"/>
                <a:ea typeface="IBM Plex Sans" pitchFamily="34" charset="-122"/>
                <a:cs typeface="IBM Plex Sans" pitchFamily="34" charset="-120"/>
              </a:rPr>
              <a:t> Anthropic model, structured output, every value checked against its quote</a:t>
            </a:r>
            <a:endParaRPr lang="en-US" sz="1200" dirty="0"/>
          </a:p>
        </p:txBody>
      </p:sp>
      <p:sp>
        <p:nvSpPr>
          <p:cNvPr id="17" name="Text 15"/>
          <p:cNvSpPr/>
          <p:nvPr/>
        </p:nvSpPr>
        <p:spPr>
          <a:xfrm>
            <a:off x="6299200" y="3213100"/>
            <a:ext cx="5232400" cy="23114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6FD3A0"/>
                </a:solidFill>
                <a:latin typeface="IBM Plex Sans" pitchFamily="34" charset="0"/>
                <a:ea typeface="IBM Plex Sans" pitchFamily="34" charset="-122"/>
                <a:cs typeface="IBM Plex Sans" pitchFamily="34" charset="-120"/>
              </a:rPr>
              <a:t>Rules:</a:t>
            </a:r>
            <a:r>
              <a:rPr lang="en-US" sz="1200" dirty="0">
                <a:solidFill>
                  <a:srgbClr val="F3F0E6"/>
                </a:solidFill>
                <a:latin typeface="IBM Plex Sans" pitchFamily="34" charset="0"/>
                <a:ea typeface="IBM Plex Sans" pitchFamily="34" charset="-122"/>
                <a:cs typeface="IBM Plex Sans" pitchFamily="34" charset="-120"/>
              </a:rPr>
              <a:t> versioned TypeScript rules, reviewed with the bank</a:t>
            </a:r>
            <a:endParaRPr lang="en-US" sz="1200" dirty="0"/>
          </a:p>
        </p:txBody>
      </p:sp>
      <p:sp>
        <p:nvSpPr>
          <p:cNvPr id="18" name="Text 16"/>
          <p:cNvSpPr/>
          <p:nvPr/>
        </p:nvSpPr>
        <p:spPr>
          <a:xfrm>
            <a:off x="6299200" y="3495039"/>
            <a:ext cx="5232400"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6FD3A0"/>
                </a:solidFill>
                <a:latin typeface="IBM Plex Sans" pitchFamily="34" charset="0"/>
                <a:ea typeface="IBM Plex Sans" pitchFamily="34" charset="-122"/>
                <a:cs typeface="IBM Plex Sans" pitchFamily="34" charset="-120"/>
              </a:rPr>
              <a:t>On-site scanning:</a:t>
            </a:r>
            <a:r>
              <a:rPr lang="en-US" sz="1200" dirty="0">
                <a:solidFill>
                  <a:srgbClr val="F3F0E6"/>
                </a:solidFill>
                <a:latin typeface="IBM Plex Sans" pitchFamily="34" charset="0"/>
                <a:ea typeface="IBM Plex Sans" pitchFamily="34" charset="-122"/>
                <a:cs typeface="IBM Plex Sans" pitchFamily="34" charset="-120"/>
              </a:rPr>
              <a:t> decode real labels and match serials and models (e.g. ZXing)</a:t>
            </a:r>
            <a:endParaRPr lang="en-US" sz="1200" dirty="0"/>
          </a:p>
        </p:txBody>
      </p:sp>
      <p:sp>
        <p:nvSpPr>
          <p:cNvPr id="19" name="Text 17"/>
          <p:cNvSpPr/>
          <p:nvPr/>
        </p:nvSpPr>
        <p:spPr>
          <a:xfrm>
            <a:off x="6299200" y="3982721"/>
            <a:ext cx="5232400"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6FD3A0"/>
                </a:solidFill>
                <a:latin typeface="IBM Plex Sans" pitchFamily="34" charset="0"/>
                <a:ea typeface="IBM Plex Sans" pitchFamily="34" charset="-122"/>
                <a:cs typeface="IBM Plex Sans" pitchFamily="34" charset="-120"/>
              </a:rPr>
              <a:t>Photo checks:</a:t>
            </a:r>
            <a:r>
              <a:rPr lang="en-US" sz="1200" dirty="0">
                <a:solidFill>
                  <a:srgbClr val="F3F0E6"/>
                </a:solidFill>
                <a:latin typeface="IBM Plex Sans" pitchFamily="34" charset="0"/>
                <a:ea typeface="IBM Plex Sans" pitchFamily="34" charset="-122"/>
                <a:cs typeface="IBM Plex Sans" pitchFamily="34" charset="-120"/>
              </a:rPr>
              <a:t> blur check (e.g. OpenCV.js) and reading screen and meter values</a:t>
            </a:r>
            <a:endParaRPr lang="en-US" sz="1200" dirty="0"/>
          </a:p>
        </p:txBody>
      </p:sp>
      <p:sp>
        <p:nvSpPr>
          <p:cNvPr id="20" name="Text 18"/>
          <p:cNvSpPr/>
          <p:nvPr/>
        </p:nvSpPr>
        <p:spPr>
          <a:xfrm>
            <a:off x="6299200" y="4470400"/>
            <a:ext cx="5232400"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6FD3A0"/>
                </a:solidFill>
                <a:latin typeface="IBM Plex Sans" pitchFamily="34" charset="0"/>
                <a:ea typeface="IBM Plex Sans" pitchFamily="34" charset="-122"/>
                <a:cs typeface="IBM Plex Sans" pitchFamily="34" charset="-120"/>
              </a:rPr>
              <a:t>Double-financing check:</a:t>
            </a:r>
            <a:r>
              <a:rPr lang="en-US" sz="1200" dirty="0">
                <a:solidFill>
                  <a:srgbClr val="F3F0E6"/>
                </a:solidFill>
                <a:latin typeface="IBM Plex Sans" pitchFamily="34" charset="0"/>
                <a:ea typeface="IBM Plex Sans" pitchFamily="34" charset="-122"/>
                <a:cs typeface="IBM Plex Sans" pitchFamily="34" charset="-120"/>
              </a:rPr>
              <a:t> authorised equipment registry or bank serial records</a:t>
            </a:r>
            <a:endParaRPr lang="en-US" sz="1200" dirty="0"/>
          </a:p>
        </p:txBody>
      </p:sp>
      <p:sp>
        <p:nvSpPr>
          <p:cNvPr id="21" name="Text 19"/>
          <p:cNvSpPr/>
          <p:nvPr/>
        </p:nvSpPr>
        <p:spPr>
          <a:xfrm>
            <a:off x="6299200" y="4958082"/>
            <a:ext cx="5232400"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6FD3A0"/>
                </a:solidFill>
                <a:latin typeface="IBM Plex Sans" pitchFamily="34" charset="0"/>
                <a:ea typeface="IBM Plex Sans" pitchFamily="34" charset="-122"/>
                <a:cs typeface="IBM Plex Sans" pitchFamily="34" charset="-120"/>
              </a:rPr>
              <a:t>Payments and certificates:</a:t>
            </a:r>
            <a:r>
              <a:rPr lang="en-US" sz="1200" dirty="0">
                <a:solidFill>
                  <a:srgbClr val="F3F0E6"/>
                </a:solidFill>
                <a:latin typeface="IBM Plex Sans" pitchFamily="34" charset="0"/>
                <a:ea typeface="IBM Plex Sans" pitchFamily="34" charset="-122"/>
                <a:cs typeface="IBM Plex Sans" pitchFamily="34" charset="-120"/>
              </a:rPr>
              <a:t> bank-approved release integration and digitally signed certificates</a:t>
            </a:r>
            <a:endParaRPr lang="en-US" sz="1200" dirty="0"/>
          </a:p>
        </p:txBody>
      </p:sp>
      <p:sp>
        <p:nvSpPr>
          <p:cNvPr id="22" name="Text 20"/>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CF"/>
                </a:solidFill>
                <a:latin typeface="IBM Plex Sans" pitchFamily="34" charset="0"/>
                <a:ea typeface="IBM Plex Sans" pitchFamily="34" charset="-122"/>
                <a:cs typeface="IBM Plex Sans" pitchFamily="34" charset="-120"/>
              </a:rPr>
              <a:t>AI extracts, rules check, bank staff approve. Candidate tools are starting points, still to be evaluated.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1A6E4A"/>
                </a:solidFill>
                <a:latin typeface="IBM Plex Sans" pitchFamily="34" charset="0"/>
                <a:ea typeface="IBM Plex Sans" pitchFamily="34" charset="-122"/>
                <a:cs typeface="IBM Plex Sans" pitchFamily="34" charset="-120"/>
              </a:rPr>
              <a:t>PHASE 1 · BEFORE CREDIT REVIEW · ANY PRIVATE INSTITUTION (EXAMPLE: A UNIVERSITY)</a:t>
            </a:r>
            <a:endParaRPr lang="en-US" sz="1400" dirty="0"/>
          </a:p>
        </p:txBody>
      </p:sp>
      <p:sp>
        <p:nvSpPr>
          <p:cNvPr id="3" name="Text 1"/>
          <p:cNvSpPr/>
          <p:nvPr>
            <p:ph type="title"/>
          </p:nvPr>
        </p:nvSpPr>
        <p:spPr>
          <a:xfrm>
            <a:off x="812800" y="113792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51F"/>
                </a:solidFill>
                <a:latin typeface="IBM Plex Sans" pitchFamily="34" charset="0"/>
                <a:ea typeface="IBM Plex Sans" pitchFamily="34" charset="-122"/>
                <a:cs typeface="IBM Plex Sans" pitchFamily="34" charset="-120"/>
              </a:rPr>
              <a:t>Application screening</a:t>
            </a:r>
            <a:endParaRPr lang="en-US" sz="3200" dirty="0"/>
          </a:p>
        </p:txBody>
      </p:sp>
      <p:sp>
        <p:nvSpPr>
          <p:cNvPr id="4" name="Text 2"/>
          <p:cNvSpPr/>
          <p:nvPr/>
        </p:nvSpPr>
        <p:spPr>
          <a:xfrm>
            <a:off x="841613" y="1940561"/>
            <a:ext cx="5457587" cy="3642360"/>
          </a:xfrm>
          <a:prstGeom prst="rect">
            <a:avLst/>
          </a:prstGeom>
          <a:noFill/>
          <a:ln/>
        </p:spPr>
        <p:txBody>
          <a:bodyPr wrap="square" lIns="0" tIns="0" rIns="0" bIns="0" rtlCol="0" anchor="t">
            <a:normAutofit/>
          </a:bodyPr>
          <a:lstStyle/>
          <a:p>
            <a:pPr algn="l" marL="225187" indent="-225187">
              <a:lnSpc>
                <a:spcPts val="2160"/>
              </a:lnSpc>
              <a:buSzPct val="100000"/>
              <a:buFontTx/>
              <a:buAutoNum type="arabicPeriod" startAt="1"/>
            </a:pPr>
            <a:r>
              <a:rPr lang="en-US" sz="1600" b="1" dirty="0">
                <a:solidFill>
                  <a:srgbClr val="17251F"/>
                </a:solidFill>
                <a:latin typeface="IBM Plex Sans" pitchFamily="34" charset="0"/>
                <a:ea typeface="IBM Plex Sans" pitchFamily="34" charset="-122"/>
                <a:cs typeface="IBM Plex Sans" pitchFamily="34" charset="-120"/>
              </a:rPr>
              <a:t>Sort the files:</a:t>
            </a:r>
            <a:r>
              <a:rPr lang="en-US" sz="1600" dirty="0">
                <a:solidFill>
                  <a:srgbClr val="17251F"/>
                </a:solidFill>
                <a:latin typeface="IBM Plex Sans" pitchFamily="34" charset="0"/>
                <a:ea typeface="IBM Plex Sans" pitchFamily="34" charset="-122"/>
                <a:cs typeface="IBM Plex Sans" pitchFamily="34" charset="-120"/>
              </a:rPr>
              <a:t> duplicates and unrelated files set aside; stale bills and unreadable scans flagged for replacement</a:t>
            </a:r>
            <a:endParaRPr lang="en-US" sz="1600" dirty="0"/>
          </a:p>
          <a:p>
            <a:pPr algn="l" marL="225187" indent="-225187">
              <a:lnSpc>
                <a:spcPts val="2160"/>
              </a:lnSpc>
              <a:buSzPct val="100000"/>
              <a:buFontTx/>
              <a:buAutoNum type="arabicPeriod" startAt="1"/>
            </a:pPr>
            <a:r>
              <a:rPr lang="en-US" sz="1600" b="1" dirty="0">
                <a:solidFill>
                  <a:srgbClr val="17251F"/>
                </a:solidFill>
                <a:latin typeface="IBM Plex Sans" pitchFamily="34" charset="0"/>
                <a:ea typeface="IBM Plex Sans" pitchFamily="34" charset="-122"/>
                <a:cs typeface="IBM Plex Sans" pitchFamily="34" charset="-120"/>
              </a:rPr>
              <a:t>Check the claims</a:t>
            </a:r>
            <a:r>
              <a:rPr lang="en-US" sz="1600" dirty="0">
                <a:solidFill>
                  <a:srgbClr val="17251F"/>
                </a:solidFill>
                <a:latin typeface="IBM Plex Sans" pitchFamily="34" charset="0"/>
                <a:ea typeface="IBM Plex Sans" pitchFamily="34" charset="-122"/>
                <a:cs typeface="IBM Plex Sans" pitchFamily="34" charset="-120"/>
              </a:rPr>
              <a:t> against published Jordanian benchmarks</a:t>
            </a:r>
            <a:endParaRPr lang="en-US" sz="1600" dirty="0"/>
          </a:p>
          <a:p>
            <a:pPr algn="l" marL="225187" indent="-225187">
              <a:lnSpc>
                <a:spcPts val="2160"/>
              </a:lnSpc>
              <a:buSzPct val="100000"/>
              <a:buFontTx/>
              <a:buAutoNum type="arabicPeriod" startAt="1"/>
            </a:pPr>
            <a:r>
              <a:rPr lang="en-US" sz="1600" b="1" dirty="0">
                <a:solidFill>
                  <a:srgbClr val="17251F"/>
                </a:solidFill>
                <a:latin typeface="IBM Plex Sans" pitchFamily="34" charset="0"/>
                <a:ea typeface="IBM Plex Sans" pitchFamily="34" charset="-122"/>
                <a:cs typeface="IBM Plex Sans" pitchFamily="34" charset="-120"/>
              </a:rPr>
              <a:t>Check compliance in 4 layers:</a:t>
            </a:r>
            <a:r>
              <a:rPr lang="en-US" sz="1600" dirty="0">
                <a:solidFill>
                  <a:srgbClr val="17251F"/>
                </a:solidFill>
                <a:latin typeface="IBM Plex Sans" pitchFamily="34" charset="0"/>
                <a:ea typeface="IBM Plex Sans" pitchFamily="34" charset="-122"/>
                <a:cs typeface="IBM Plex Sans" pitchFamily="34" charset="-120"/>
              </a:rPr>
              <a:t> national taxonomy, bank framework, permits, bank's own checks, each with its source page</a:t>
            </a:r>
            <a:endParaRPr lang="en-US" sz="1600" dirty="0"/>
          </a:p>
          <a:p>
            <a:pPr algn="l" marL="225187" indent="-225187">
              <a:lnSpc>
                <a:spcPts val="2160"/>
              </a:lnSpc>
              <a:buSzPct val="100000"/>
              <a:buFontTx/>
              <a:buAutoNum type="arabicPeriod" startAt="1"/>
            </a:pPr>
            <a:r>
              <a:rPr lang="en-US" sz="1600" b="1" dirty="0">
                <a:solidFill>
                  <a:srgbClr val="17251F"/>
                </a:solidFill>
                <a:latin typeface="IBM Plex Sans" pitchFamily="34" charset="0"/>
                <a:ea typeface="IBM Plex Sans" pitchFamily="34" charset="-122"/>
                <a:cs typeface="IBM Plex Sans" pitchFamily="34" charset="-120"/>
              </a:rPr>
              <a:t>Give a verdict</a:t>
            </a:r>
            <a:r>
              <a:rPr lang="en-US" sz="1600" dirty="0">
                <a:solidFill>
                  <a:srgbClr val="17251F"/>
                </a:solidFill>
                <a:latin typeface="IBM Plex Sans" pitchFamily="34" charset="0"/>
                <a:ea typeface="IBM Plex Sans" pitchFamily="34" charset="-122"/>
                <a:cs typeface="IBM Plex Sans" pitchFamily="34" charset="-120"/>
              </a:rPr>
              <a:t> and a request list, grouped by who holds each document</a:t>
            </a:r>
            <a:endParaRPr lang="en-US" sz="1600" dirty="0"/>
          </a:p>
        </p:txBody>
      </p:sp>
      <p:sp>
        <p:nvSpPr>
          <p:cNvPr id="5" name="Shape 3"/>
          <p:cNvSpPr/>
          <p:nvPr/>
        </p:nvSpPr>
        <p:spPr>
          <a:xfrm>
            <a:off x="6556375" y="1943736"/>
            <a:ext cx="4819650" cy="750570"/>
          </a:xfrm>
          <a:prstGeom prst="roundRect">
            <a:avLst>
              <a:gd name="adj" fmla="val 13113"/>
            </a:avLst>
          </a:prstGeom>
          <a:solidFill>
            <a:srgbClr val="FFFDF8"/>
          </a:solidFill>
          <a:ln w="6350">
            <a:solidFill>
              <a:srgbClr val="DCD6C8"/>
            </a:solidFill>
            <a:prstDash val="solid"/>
          </a:ln>
        </p:spPr>
      </p:sp>
      <p:sp>
        <p:nvSpPr>
          <p:cNvPr id="6" name="Text 4"/>
          <p:cNvSpPr/>
          <p:nvPr/>
        </p:nvSpPr>
        <p:spPr>
          <a:xfrm>
            <a:off x="6786880" y="2235200"/>
            <a:ext cx="1798915"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5635C"/>
                </a:solidFill>
                <a:latin typeface="IBM Plex Sans" pitchFamily="34" charset="0"/>
                <a:ea typeface="IBM Plex Sans" pitchFamily="34" charset="-122"/>
                <a:cs typeface="IBM Plex Sans" pitchFamily="34" charset="-120"/>
              </a:rPr>
              <a:t>Requested → scope</a:t>
            </a:r>
            <a:endParaRPr lang="en-US" sz="1400" dirty="0"/>
          </a:p>
        </p:txBody>
      </p:sp>
      <p:sp>
        <p:nvSpPr>
          <p:cNvPr id="7" name="Text 5"/>
          <p:cNvSpPr/>
          <p:nvPr/>
        </p:nvSpPr>
        <p:spPr>
          <a:xfrm>
            <a:off x="8585795" y="2123439"/>
            <a:ext cx="2559724" cy="416560"/>
          </a:xfrm>
          <a:prstGeom prst="rect">
            <a:avLst/>
          </a:prstGeom>
          <a:noFill/>
          <a:ln/>
        </p:spPr>
        <p:txBody>
          <a:bodyPr wrap="square" lIns="0" tIns="0" rIns="0" bIns="0" rtlCol="0" anchor="t">
            <a:normAutofit/>
          </a:bodyPr>
          <a:lstStyle/>
          <a:p>
            <a:pPr algn="r" indent="0" marL="0">
              <a:lnSpc>
                <a:spcPts val="3080"/>
              </a:lnSpc>
              <a:buNone/>
            </a:pPr>
            <a:r>
              <a:rPr lang="en-US" sz="2200" b="1" dirty="0">
                <a:solidFill>
                  <a:srgbClr val="8A958F"/>
                </a:solidFill>
                <a:latin typeface="IBM Plex Sans" pitchFamily="34" charset="0"/>
                <a:ea typeface="IBM Plex Sans" pitchFamily="34" charset="-122"/>
                <a:cs typeface="IBM Plex Sans" pitchFamily="34" charset="-120"/>
              </a:rPr>
              <a:t>553k</a:t>
            </a:r>
            <a:r>
              <a:rPr lang="en-US" sz="2200" b="1" dirty="0">
                <a:solidFill>
                  <a:srgbClr val="17251F"/>
                </a:solidFill>
                <a:latin typeface="IBM Plex Sans" pitchFamily="34" charset="0"/>
                <a:ea typeface="IBM Plex Sans" pitchFamily="34" charset="-122"/>
                <a:cs typeface="IBM Plex Sans" pitchFamily="34" charset="-120"/>
              </a:rPr>
              <a:t> → </a:t>
            </a:r>
            <a:r>
              <a:rPr lang="en-US" sz="2200" b="1" dirty="0">
                <a:solidFill>
                  <a:srgbClr val="1A6E4A"/>
                </a:solidFill>
                <a:latin typeface="IBM Plex Sans" pitchFamily="34" charset="0"/>
                <a:ea typeface="IBM Plex Sans" pitchFamily="34" charset="-122"/>
                <a:cs typeface="IBM Plex Sans" pitchFamily="34" charset="-120"/>
              </a:rPr>
              <a:t>JOD 430k</a:t>
            </a:r>
            <a:endParaRPr lang="en-US" sz="2200" dirty="0"/>
          </a:p>
        </p:txBody>
      </p:sp>
      <p:sp>
        <p:nvSpPr>
          <p:cNvPr id="8" name="Shape 6"/>
          <p:cNvSpPr/>
          <p:nvPr/>
        </p:nvSpPr>
        <p:spPr>
          <a:xfrm>
            <a:off x="6556375" y="2853057"/>
            <a:ext cx="4819650" cy="750570"/>
          </a:xfrm>
          <a:prstGeom prst="roundRect">
            <a:avLst>
              <a:gd name="adj" fmla="val 13113"/>
            </a:avLst>
          </a:prstGeom>
          <a:solidFill>
            <a:srgbClr val="FFFDF8"/>
          </a:solidFill>
          <a:ln w="6350">
            <a:solidFill>
              <a:srgbClr val="DCD6C8"/>
            </a:solidFill>
            <a:prstDash val="solid"/>
          </a:ln>
        </p:spPr>
      </p:sp>
      <p:sp>
        <p:nvSpPr>
          <p:cNvPr id="9" name="Text 7"/>
          <p:cNvSpPr/>
          <p:nvPr/>
        </p:nvSpPr>
        <p:spPr>
          <a:xfrm>
            <a:off x="6786880" y="3144521"/>
            <a:ext cx="173659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5635C"/>
                </a:solidFill>
                <a:latin typeface="IBM Plex Sans" pitchFamily="34" charset="0"/>
                <a:ea typeface="IBM Plex Sans" pitchFamily="34" charset="-122"/>
                <a:cs typeface="IBM Plex Sans" pitchFamily="34" charset="-120"/>
              </a:rPr>
              <a:t>Solar kWh/kWp/yr</a:t>
            </a:r>
            <a:endParaRPr lang="en-US" sz="1400" dirty="0"/>
          </a:p>
        </p:txBody>
      </p:sp>
      <p:sp>
        <p:nvSpPr>
          <p:cNvPr id="10" name="Text 8"/>
          <p:cNvSpPr/>
          <p:nvPr/>
        </p:nvSpPr>
        <p:spPr>
          <a:xfrm>
            <a:off x="8834565" y="3032761"/>
            <a:ext cx="2310955" cy="416560"/>
          </a:xfrm>
          <a:prstGeom prst="rect">
            <a:avLst/>
          </a:prstGeom>
          <a:noFill/>
          <a:ln/>
        </p:spPr>
        <p:txBody>
          <a:bodyPr wrap="square" lIns="0" tIns="0" rIns="0" bIns="0" rtlCol="0" anchor="t">
            <a:normAutofit/>
          </a:bodyPr>
          <a:lstStyle/>
          <a:p>
            <a:pPr algn="r" indent="0" marL="0">
              <a:lnSpc>
                <a:spcPts val="3080"/>
              </a:lnSpc>
              <a:buNone/>
            </a:pPr>
            <a:r>
              <a:rPr lang="en-US" sz="2200" b="1" dirty="0">
                <a:solidFill>
                  <a:srgbClr val="8A958F"/>
                </a:solidFill>
                <a:latin typeface="IBM Plex Sans" pitchFamily="34" charset="0"/>
                <a:ea typeface="IBM Plex Sans" pitchFamily="34" charset="-122"/>
                <a:cs typeface="IBM Plex Sans" pitchFamily="34" charset="-120"/>
              </a:rPr>
              <a:t>1,800</a:t>
            </a:r>
            <a:r>
              <a:rPr lang="en-US" sz="2200" b="1" dirty="0">
                <a:solidFill>
                  <a:srgbClr val="17251F"/>
                </a:solidFill>
                <a:latin typeface="IBM Plex Sans" pitchFamily="34" charset="0"/>
                <a:ea typeface="IBM Plex Sans" pitchFamily="34" charset="-122"/>
                <a:cs typeface="IBM Plex Sans" pitchFamily="34" charset="-120"/>
              </a:rPr>
              <a:t> → </a:t>
            </a:r>
            <a:r>
              <a:rPr lang="en-US" sz="2200" b="1" dirty="0">
                <a:solidFill>
                  <a:srgbClr val="1A6E4A"/>
                </a:solidFill>
                <a:latin typeface="IBM Plex Sans" pitchFamily="34" charset="0"/>
                <a:ea typeface="IBM Plex Sans" pitchFamily="34" charset="-122"/>
                <a:cs typeface="IBM Plex Sans" pitchFamily="34" charset="-120"/>
              </a:rPr>
              <a:t>1,639</a:t>
            </a:r>
            <a:endParaRPr lang="en-US" sz="2200" dirty="0"/>
          </a:p>
        </p:txBody>
      </p:sp>
      <p:sp>
        <p:nvSpPr>
          <p:cNvPr id="11" name="Shape 9"/>
          <p:cNvSpPr/>
          <p:nvPr/>
        </p:nvSpPr>
        <p:spPr>
          <a:xfrm>
            <a:off x="6556375" y="3762375"/>
            <a:ext cx="4819650" cy="750570"/>
          </a:xfrm>
          <a:prstGeom prst="roundRect">
            <a:avLst>
              <a:gd name="adj" fmla="val 13113"/>
            </a:avLst>
          </a:prstGeom>
          <a:solidFill>
            <a:srgbClr val="FFFDF8"/>
          </a:solidFill>
          <a:ln w="6350">
            <a:solidFill>
              <a:srgbClr val="DCD6C8"/>
            </a:solidFill>
            <a:prstDash val="solid"/>
          </a:ln>
        </p:spPr>
      </p:sp>
      <p:sp>
        <p:nvSpPr>
          <p:cNvPr id="12" name="Text 10"/>
          <p:cNvSpPr/>
          <p:nvPr/>
        </p:nvSpPr>
        <p:spPr>
          <a:xfrm>
            <a:off x="6786880" y="4053839"/>
            <a:ext cx="103317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5635C"/>
                </a:solidFill>
                <a:latin typeface="IBM Plex Sans" pitchFamily="34" charset="0"/>
                <a:ea typeface="IBM Plex Sans" pitchFamily="34" charset="-122"/>
                <a:cs typeface="IBM Plex Sans" pitchFamily="34" charset="-120"/>
              </a:rPr>
              <a:t>LED saving</a:t>
            </a:r>
            <a:endParaRPr lang="en-US" sz="1400" dirty="0"/>
          </a:p>
        </p:txBody>
      </p:sp>
      <p:sp>
        <p:nvSpPr>
          <p:cNvPr id="13" name="Text 11"/>
          <p:cNvSpPr/>
          <p:nvPr/>
        </p:nvSpPr>
        <p:spPr>
          <a:xfrm>
            <a:off x="9194038" y="3942082"/>
            <a:ext cx="1951482" cy="416560"/>
          </a:xfrm>
          <a:prstGeom prst="rect">
            <a:avLst/>
          </a:prstGeom>
          <a:noFill/>
          <a:ln/>
        </p:spPr>
        <p:txBody>
          <a:bodyPr wrap="square" lIns="0" tIns="0" rIns="0" bIns="0" rtlCol="0" anchor="t">
            <a:normAutofit/>
          </a:bodyPr>
          <a:lstStyle/>
          <a:p>
            <a:pPr algn="r" indent="0" marL="0">
              <a:lnSpc>
                <a:spcPts val="3080"/>
              </a:lnSpc>
              <a:buNone/>
            </a:pPr>
            <a:r>
              <a:rPr lang="en-US" sz="2200" b="1" dirty="0">
                <a:solidFill>
                  <a:srgbClr val="8A958F"/>
                </a:solidFill>
                <a:latin typeface="IBM Plex Sans" pitchFamily="34" charset="0"/>
                <a:ea typeface="IBM Plex Sans" pitchFamily="34" charset="-122"/>
                <a:cs typeface="IBM Plex Sans" pitchFamily="34" charset="-120"/>
              </a:rPr>
              <a:t>70%</a:t>
            </a:r>
            <a:r>
              <a:rPr lang="en-US" sz="2200" b="1" dirty="0">
                <a:solidFill>
                  <a:srgbClr val="17251F"/>
                </a:solidFill>
                <a:latin typeface="IBM Plex Sans" pitchFamily="34" charset="0"/>
                <a:ea typeface="IBM Plex Sans" pitchFamily="34" charset="-122"/>
                <a:cs typeface="IBM Plex Sans" pitchFamily="34" charset="-120"/>
              </a:rPr>
              <a:t> → </a:t>
            </a:r>
            <a:r>
              <a:rPr lang="en-US" sz="2200" b="1" dirty="0">
                <a:solidFill>
                  <a:srgbClr val="1A6E4A"/>
                </a:solidFill>
                <a:latin typeface="IBM Plex Sans" pitchFamily="34" charset="0"/>
                <a:ea typeface="IBM Plex Sans" pitchFamily="34" charset="-122"/>
                <a:cs typeface="IBM Plex Sans" pitchFamily="34" charset="-120"/>
              </a:rPr>
              <a:t>50%</a:t>
            </a:r>
            <a:endParaRPr lang="en-US" sz="2200" dirty="0"/>
          </a:p>
        </p:txBody>
      </p:sp>
      <p:sp>
        <p:nvSpPr>
          <p:cNvPr id="14" name="Shape 12"/>
          <p:cNvSpPr/>
          <p:nvPr/>
        </p:nvSpPr>
        <p:spPr>
          <a:xfrm>
            <a:off x="6553200" y="4668521"/>
            <a:ext cx="4826000" cy="889000"/>
          </a:xfrm>
          <a:prstGeom prst="roundRect">
            <a:avLst>
              <a:gd name="adj" fmla="val 11429"/>
            </a:avLst>
          </a:prstGeom>
          <a:solidFill>
            <a:srgbClr val="0E2A23"/>
          </a:solidFill>
          <a:ln/>
        </p:spPr>
      </p:sp>
      <p:sp>
        <p:nvSpPr>
          <p:cNvPr id="15" name="Text 13"/>
          <p:cNvSpPr/>
          <p:nvPr/>
        </p:nvSpPr>
        <p:spPr>
          <a:xfrm>
            <a:off x="6781800" y="4846321"/>
            <a:ext cx="449986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FD3A0"/>
                </a:solidFill>
                <a:latin typeface="IBM Plex Sans" pitchFamily="34" charset="0"/>
                <a:ea typeface="IBM Plex Sans" pitchFamily="34" charset="-122"/>
                <a:cs typeface="IBM Plex Sans" pitchFamily="34" charset="-120"/>
              </a:rPr>
              <a:t>VERDICT</a:t>
            </a:r>
            <a:endParaRPr lang="en-US" sz="1200" dirty="0"/>
          </a:p>
        </p:txBody>
      </p:sp>
      <p:sp>
        <p:nvSpPr>
          <p:cNvPr id="16" name="Text 14"/>
          <p:cNvSpPr/>
          <p:nvPr/>
        </p:nvSpPr>
        <p:spPr>
          <a:xfrm>
            <a:off x="6781800" y="5059682"/>
            <a:ext cx="4499864"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3F0E6"/>
                </a:solidFill>
                <a:latin typeface="IBM Plex Sans" pitchFamily="34" charset="0"/>
                <a:ea typeface="IBM Plex Sans" pitchFamily="34" charset="-122"/>
                <a:cs typeface="IBM Plex Sans" pitchFamily="34" charset="-120"/>
              </a:rPr>
              <a:t>Not ready for credit review yet</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6E4A"/>
        </a:solidFill>
      </p:bgPr>
    </p:bg>
    <p:spTree>
      <p:nvGrpSpPr>
        <p:cNvPr id="1" name=""/>
        <p:cNvGrpSpPr/>
        <p:nvPr/>
      </p:nvGrpSpPr>
      <p:grpSpPr>
        <a:xfrm>
          <a:off x="0" y="0"/>
          <a:ext cx="0" cy="0"/>
          <a:chOff x="0" y="0"/>
          <a:chExt cx="0" cy="0"/>
        </a:xfrm>
      </p:grpSpPr>
      <p:sp>
        <p:nvSpPr>
          <p:cNvPr id="2" name="Text 0"/>
          <p:cNvSpPr/>
          <p:nvPr/>
        </p:nvSpPr>
        <p:spPr>
          <a:xfrm>
            <a:off x="812800" y="1775461"/>
            <a:ext cx="10883392" cy="309880"/>
          </a:xfrm>
          <a:prstGeom prst="rect">
            <a:avLst/>
          </a:prstGeom>
          <a:noFill/>
          <a:ln/>
        </p:spPr>
        <p:txBody>
          <a:bodyPr wrap="square" lIns="0" tIns="0" rIns="0" bIns="0" rtlCol="0" anchor="t">
            <a:normAutofit/>
          </a:bodyPr>
          <a:lstStyle/>
          <a:p>
            <a:pPr algn="l" indent="0" marL="0">
              <a:lnSpc>
                <a:spcPts val="2240"/>
              </a:lnSpc>
              <a:buNone/>
            </a:pPr>
            <a:r>
              <a:rPr lang="en-US" sz="1600" b="1" spc="200" kern="0" dirty="0">
                <a:solidFill>
                  <a:srgbClr val="CDEFDD"/>
                </a:solidFill>
                <a:latin typeface="IBM Plex Sans" pitchFamily="34" charset="0"/>
                <a:ea typeface="IBM Plex Sans" pitchFamily="34" charset="-122"/>
                <a:cs typeface="IBM Plex Sans" pitchFamily="34" charset="-120"/>
              </a:rPr>
              <a:t>LIVE DEMO 1 · PHASE 1</a:t>
            </a:r>
            <a:endParaRPr lang="en-US" sz="1600" dirty="0"/>
          </a:p>
        </p:txBody>
      </p:sp>
      <p:sp>
        <p:nvSpPr>
          <p:cNvPr id="3" name="Text 1"/>
          <p:cNvSpPr/>
          <p:nvPr>
            <p:ph type="title"/>
          </p:nvPr>
        </p:nvSpPr>
        <p:spPr>
          <a:xfrm>
            <a:off x="812800" y="2364739"/>
            <a:ext cx="10883392" cy="66548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3F0E6"/>
                </a:solidFill>
                <a:latin typeface="IBM Plex Sans" pitchFamily="34" charset="0"/>
                <a:ea typeface="IBM Plex Sans" pitchFamily="34" charset="-122"/>
                <a:cs typeface="IBM Plex Sans" pitchFamily="34" charset="-120"/>
              </a:rPr>
              <a:t>Screening a university's application</a:t>
            </a:r>
            <a:endParaRPr lang="en-US" sz="4800" dirty="0"/>
          </a:p>
        </p:txBody>
      </p:sp>
      <p:sp>
        <p:nvSpPr>
          <p:cNvPr id="4" name="Text 2"/>
          <p:cNvSpPr/>
          <p:nvPr/>
        </p:nvSpPr>
        <p:spPr>
          <a:xfrm>
            <a:off x="812800" y="3309621"/>
            <a:ext cx="1088339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DEFDD"/>
                </a:solidFill>
                <a:latin typeface="IBM Plex Sans" pitchFamily="34" charset="0"/>
                <a:ea typeface="IBM Plex Sans" pitchFamily="34" charset="-122"/>
                <a:cs typeface="IBM Plex Sans" pitchFamily="34" charset="-120"/>
              </a:rPr>
              <a:t>Working preview: flows, rules, checks and PDFs are real; AI reading is switched off and documents and amounts are labelled sample data</a:t>
            </a:r>
            <a:endParaRPr lang="en-US" sz="1600" dirty="0"/>
          </a:p>
        </p:txBody>
      </p:sp>
      <p:sp>
        <p:nvSpPr>
          <p:cNvPr id="5" name="Shape 3"/>
          <p:cNvSpPr/>
          <p:nvPr/>
        </p:nvSpPr>
        <p:spPr>
          <a:xfrm>
            <a:off x="812800" y="4196079"/>
            <a:ext cx="2489200" cy="0"/>
          </a:xfrm>
          <a:prstGeom prst="line">
            <a:avLst/>
          </a:prstGeom>
          <a:noFill/>
          <a:ln w="25400">
            <a:solidFill>
              <a:srgbClr val="CDEFDD"/>
            </a:solidFill>
            <a:prstDash val="solid"/>
          </a:ln>
        </p:spPr>
      </p:sp>
      <p:sp>
        <p:nvSpPr>
          <p:cNvPr id="6" name="Text 4"/>
          <p:cNvSpPr/>
          <p:nvPr/>
        </p:nvSpPr>
        <p:spPr>
          <a:xfrm>
            <a:off x="812800" y="4335779"/>
            <a:ext cx="2563876"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0E6"/>
                </a:solidFill>
                <a:latin typeface="IBM Plex Sans" pitchFamily="34" charset="0"/>
                <a:ea typeface="IBM Plex Sans" pitchFamily="34" charset="-122"/>
                <a:cs typeface="IBM Plex Sans" pitchFamily="34" charset="-120"/>
              </a:rPr>
              <a:t>The university submits 16 messy documents at once</a:t>
            </a:r>
            <a:endParaRPr lang="en-US" sz="1400" dirty="0"/>
          </a:p>
        </p:txBody>
      </p:sp>
      <p:sp>
        <p:nvSpPr>
          <p:cNvPr id="7" name="Shape 5"/>
          <p:cNvSpPr/>
          <p:nvPr/>
        </p:nvSpPr>
        <p:spPr>
          <a:xfrm>
            <a:off x="3505200" y="4196079"/>
            <a:ext cx="2489200" cy="0"/>
          </a:xfrm>
          <a:prstGeom prst="line">
            <a:avLst/>
          </a:prstGeom>
          <a:noFill/>
          <a:ln w="25400">
            <a:solidFill>
              <a:srgbClr val="CDEFDD"/>
            </a:solidFill>
            <a:prstDash val="solid"/>
          </a:ln>
        </p:spPr>
      </p:sp>
      <p:sp>
        <p:nvSpPr>
          <p:cNvPr id="8" name="Text 6"/>
          <p:cNvSpPr/>
          <p:nvPr/>
        </p:nvSpPr>
        <p:spPr>
          <a:xfrm>
            <a:off x="3505200" y="4335779"/>
            <a:ext cx="2563876"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0E6"/>
                </a:solidFill>
                <a:latin typeface="IBM Plex Sans" pitchFamily="34" charset="0"/>
                <a:ea typeface="IBM Plex Sans" pitchFamily="34" charset="-122"/>
                <a:cs typeface="IBM Plex Sans" pitchFamily="34" charset="-120"/>
              </a:rPr>
              <a:t>Files sorted; duplicates set aside, stale bills flagged</a:t>
            </a:r>
            <a:endParaRPr lang="en-US" sz="1400" dirty="0"/>
          </a:p>
        </p:txBody>
      </p:sp>
      <p:sp>
        <p:nvSpPr>
          <p:cNvPr id="9" name="Shape 7"/>
          <p:cNvSpPr/>
          <p:nvPr/>
        </p:nvSpPr>
        <p:spPr>
          <a:xfrm>
            <a:off x="6197600" y="4196079"/>
            <a:ext cx="2489200" cy="0"/>
          </a:xfrm>
          <a:prstGeom prst="line">
            <a:avLst/>
          </a:prstGeom>
          <a:noFill/>
          <a:ln w="25400">
            <a:solidFill>
              <a:srgbClr val="CDEFDD"/>
            </a:solidFill>
            <a:prstDash val="solid"/>
          </a:ln>
        </p:spPr>
      </p:sp>
      <p:sp>
        <p:nvSpPr>
          <p:cNvPr id="10" name="Text 8"/>
          <p:cNvSpPr/>
          <p:nvPr/>
        </p:nvSpPr>
        <p:spPr>
          <a:xfrm>
            <a:off x="6197600" y="4335779"/>
            <a:ext cx="2563876"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0E6"/>
                </a:solidFill>
                <a:latin typeface="IBM Plex Sans" pitchFamily="34" charset="0"/>
                <a:ea typeface="IBM Plex Sans" pitchFamily="34" charset="-122"/>
                <a:cs typeface="IBM Plex Sans" pitchFamily="34" charset="-120"/>
              </a:rPr>
              <a:t>Claims checked against sources; compliance in 4 layers</a:t>
            </a:r>
            <a:endParaRPr lang="en-US" sz="1400" dirty="0"/>
          </a:p>
        </p:txBody>
      </p:sp>
      <p:sp>
        <p:nvSpPr>
          <p:cNvPr id="11" name="Shape 9"/>
          <p:cNvSpPr/>
          <p:nvPr/>
        </p:nvSpPr>
        <p:spPr>
          <a:xfrm>
            <a:off x="8890000" y="4196079"/>
            <a:ext cx="2489200" cy="0"/>
          </a:xfrm>
          <a:prstGeom prst="line">
            <a:avLst/>
          </a:prstGeom>
          <a:noFill/>
          <a:ln w="25400">
            <a:solidFill>
              <a:srgbClr val="CDEFDD"/>
            </a:solidFill>
            <a:prstDash val="solid"/>
          </a:ln>
        </p:spPr>
      </p:sp>
      <p:sp>
        <p:nvSpPr>
          <p:cNvPr id="12" name="Text 10"/>
          <p:cNvSpPr/>
          <p:nvPr/>
        </p:nvSpPr>
        <p:spPr>
          <a:xfrm>
            <a:off x="8890000" y="4335779"/>
            <a:ext cx="2563876"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0E6"/>
                </a:solidFill>
                <a:latin typeface="IBM Plex Sans" pitchFamily="34" charset="0"/>
                <a:ea typeface="IBM Plex Sans" pitchFamily="34" charset="-122"/>
                <a:cs typeface="IBM Plex Sans" pitchFamily="34" charset="-120"/>
              </a:rPr>
              <a:t>Verdict, report PDF and request list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1A6E4A"/>
                </a:solidFill>
                <a:latin typeface="IBM Plex Sans" pitchFamily="34" charset="0"/>
                <a:ea typeface="IBM Plex Sans" pitchFamily="34" charset="-122"/>
                <a:cs typeface="IBM Plex Sans" pitchFamily="34" charset="-120"/>
              </a:rPr>
              <a:t>PHASE 2 · BEFORE EACH PAYMENT · EXAMPLE: A HOSPITAL</a:t>
            </a:r>
            <a:endParaRPr lang="en-US" sz="1400" dirty="0"/>
          </a:p>
        </p:txBody>
      </p:sp>
      <p:sp>
        <p:nvSpPr>
          <p:cNvPr id="3" name="Text 1"/>
          <p:cNvSpPr/>
          <p:nvPr>
            <p:ph type="title"/>
          </p:nvPr>
        </p:nvSpPr>
        <p:spPr>
          <a:xfrm>
            <a:off x="812800" y="113792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51F"/>
                </a:solidFill>
                <a:latin typeface="IBM Plex Sans" pitchFamily="34" charset="0"/>
                <a:ea typeface="IBM Plex Sans" pitchFamily="34" charset="-122"/>
                <a:cs typeface="IBM Plex Sans" pitchFamily="34" charset="-120"/>
              </a:rPr>
              <a:t>On-site verification</a:t>
            </a:r>
            <a:endParaRPr lang="en-US" sz="3200" dirty="0"/>
          </a:p>
        </p:txBody>
      </p:sp>
      <p:sp>
        <p:nvSpPr>
          <p:cNvPr id="4" name="Shape 2"/>
          <p:cNvSpPr/>
          <p:nvPr/>
        </p:nvSpPr>
        <p:spPr>
          <a:xfrm>
            <a:off x="812800" y="1959614"/>
            <a:ext cx="2527300" cy="0"/>
          </a:xfrm>
          <a:prstGeom prst="line">
            <a:avLst/>
          </a:prstGeom>
          <a:noFill/>
          <a:ln w="38100">
            <a:solidFill>
              <a:srgbClr val="1A6E4A"/>
            </a:solidFill>
            <a:prstDash val="solid"/>
          </a:ln>
        </p:spPr>
      </p:sp>
      <p:sp>
        <p:nvSpPr>
          <p:cNvPr id="5" name="Text 3"/>
          <p:cNvSpPr/>
          <p:nvPr/>
        </p:nvSpPr>
        <p:spPr>
          <a:xfrm>
            <a:off x="812800" y="2128521"/>
            <a:ext cx="260311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51F"/>
                </a:solidFill>
                <a:latin typeface="IBM Plex Sans" pitchFamily="34" charset="0"/>
                <a:ea typeface="IBM Plex Sans" pitchFamily="34" charset="-122"/>
                <a:cs typeface="IBM Plex Sans" pitchFamily="34" charset="-120"/>
              </a:rPr>
              <a:t>Project code</a:t>
            </a:r>
            <a:endParaRPr lang="en-US" sz="1600" dirty="0"/>
          </a:p>
        </p:txBody>
      </p:sp>
      <p:sp>
        <p:nvSpPr>
          <p:cNvPr id="6" name="Text 4"/>
          <p:cNvSpPr/>
          <p:nvPr/>
        </p:nvSpPr>
        <p:spPr>
          <a:xfrm>
            <a:off x="812800" y="2448564"/>
            <a:ext cx="2603119"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A43"/>
                </a:solidFill>
                <a:latin typeface="IBM Plex Sans" pitchFamily="34" charset="0"/>
                <a:ea typeface="IBM Plex Sans" pitchFamily="34" charset="-122"/>
                <a:cs typeface="IBM Plex Sans" pitchFamily="34" charset="-120"/>
              </a:rPr>
              <a:t>Bank approves a JOD 344k loan for the approved scope; case gets code TQ-4821 and a QR</a:t>
            </a:r>
            <a:endParaRPr lang="en-US" sz="1300" dirty="0"/>
          </a:p>
        </p:txBody>
      </p:sp>
      <p:sp>
        <p:nvSpPr>
          <p:cNvPr id="7" name="Shape 5"/>
          <p:cNvSpPr/>
          <p:nvPr/>
        </p:nvSpPr>
        <p:spPr>
          <a:xfrm>
            <a:off x="3492500" y="1959614"/>
            <a:ext cx="2527300" cy="0"/>
          </a:xfrm>
          <a:prstGeom prst="line">
            <a:avLst/>
          </a:prstGeom>
          <a:noFill/>
          <a:ln w="38100">
            <a:solidFill>
              <a:srgbClr val="1A6E4A"/>
            </a:solidFill>
            <a:prstDash val="solid"/>
          </a:ln>
        </p:spPr>
      </p:sp>
      <p:sp>
        <p:nvSpPr>
          <p:cNvPr id="8" name="Text 6"/>
          <p:cNvSpPr/>
          <p:nvPr/>
        </p:nvSpPr>
        <p:spPr>
          <a:xfrm>
            <a:off x="3492500" y="2128521"/>
            <a:ext cx="260311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51F"/>
                </a:solidFill>
                <a:latin typeface="IBM Plex Sans" pitchFamily="34" charset="0"/>
                <a:ea typeface="IBM Plex Sans" pitchFamily="34" charset="-122"/>
                <a:cs typeface="IBM Plex Sans" pitchFamily="34" charset="-120"/>
              </a:rPr>
              <a:t>Phone scan</a:t>
            </a:r>
            <a:endParaRPr lang="en-US" sz="1600" dirty="0"/>
          </a:p>
        </p:txBody>
      </p:sp>
      <p:sp>
        <p:nvSpPr>
          <p:cNvPr id="9" name="Text 7"/>
          <p:cNvSpPr/>
          <p:nvPr/>
        </p:nvSpPr>
        <p:spPr>
          <a:xfrm>
            <a:off x="3492500" y="2448564"/>
            <a:ext cx="2603119"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A43"/>
                </a:solidFill>
                <a:latin typeface="IBM Plex Sans" pitchFamily="34" charset="0"/>
                <a:ea typeface="IBM Plex Sans" pitchFamily="34" charset="-122"/>
                <a:cs typeface="IBM Plex Sans" pitchFamily="34" charset="-120"/>
              </a:rPr>
              <a:t>Installer scans each delivery; opens in Arabic, English one tap away; no app, no money shown</a:t>
            </a:r>
            <a:endParaRPr lang="en-US" sz="1300" dirty="0"/>
          </a:p>
        </p:txBody>
      </p:sp>
      <p:sp>
        <p:nvSpPr>
          <p:cNvPr id="10" name="Shape 8"/>
          <p:cNvSpPr/>
          <p:nvPr/>
        </p:nvSpPr>
        <p:spPr>
          <a:xfrm>
            <a:off x="6172200" y="1959614"/>
            <a:ext cx="2527300" cy="0"/>
          </a:xfrm>
          <a:prstGeom prst="line">
            <a:avLst/>
          </a:prstGeom>
          <a:noFill/>
          <a:ln w="38100">
            <a:solidFill>
              <a:srgbClr val="1A6E4A"/>
            </a:solidFill>
            <a:prstDash val="solid"/>
          </a:ln>
        </p:spPr>
      </p:sp>
      <p:sp>
        <p:nvSpPr>
          <p:cNvPr id="11" name="Text 9"/>
          <p:cNvSpPr/>
          <p:nvPr/>
        </p:nvSpPr>
        <p:spPr>
          <a:xfrm>
            <a:off x="6172200" y="2128521"/>
            <a:ext cx="260311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51F"/>
                </a:solidFill>
                <a:latin typeface="IBM Plex Sans" pitchFamily="34" charset="0"/>
                <a:ea typeface="IBM Plex Sans" pitchFamily="34" charset="-122"/>
                <a:cs typeface="IBM Plex Sans" pitchFamily="34" charset="-120"/>
              </a:rPr>
              <a:t>Switch-on photos</a:t>
            </a:r>
            <a:endParaRPr lang="en-US" sz="1600" dirty="0"/>
          </a:p>
        </p:txBody>
      </p:sp>
      <p:sp>
        <p:nvSpPr>
          <p:cNvPr id="12" name="Text 10"/>
          <p:cNvSpPr/>
          <p:nvPr/>
        </p:nvSpPr>
        <p:spPr>
          <a:xfrm>
            <a:off x="6172200" y="2448564"/>
            <a:ext cx="260311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A43"/>
                </a:solidFill>
                <a:latin typeface="IBM Plex Sans" pitchFamily="34" charset="0"/>
                <a:ea typeface="IBM Plex Sans" pitchFamily="34" charset="-122"/>
                <a:cs typeface="IBM Plex Sans" pitchFamily="34" charset="-120"/>
              </a:rPr>
              <a:t>Inverter, meter and lighting; blurry photo gets "Retake now"</a:t>
            </a:r>
            <a:endParaRPr lang="en-US" sz="1300" dirty="0"/>
          </a:p>
        </p:txBody>
      </p:sp>
      <p:sp>
        <p:nvSpPr>
          <p:cNvPr id="13" name="Shape 11"/>
          <p:cNvSpPr/>
          <p:nvPr/>
        </p:nvSpPr>
        <p:spPr>
          <a:xfrm>
            <a:off x="8851900" y="1959614"/>
            <a:ext cx="2527300" cy="0"/>
          </a:xfrm>
          <a:prstGeom prst="line">
            <a:avLst/>
          </a:prstGeom>
          <a:noFill/>
          <a:ln w="38100">
            <a:solidFill>
              <a:srgbClr val="1A6E4A"/>
            </a:solidFill>
            <a:prstDash val="solid"/>
          </a:ln>
        </p:spPr>
      </p:sp>
      <p:sp>
        <p:nvSpPr>
          <p:cNvPr id="14" name="Text 12"/>
          <p:cNvSpPr/>
          <p:nvPr/>
        </p:nvSpPr>
        <p:spPr>
          <a:xfrm>
            <a:off x="8851900" y="2128521"/>
            <a:ext cx="260311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51F"/>
                </a:solidFill>
                <a:latin typeface="IBM Plex Sans" pitchFamily="34" charset="0"/>
                <a:ea typeface="IBM Plex Sans" pitchFamily="34" charset="-122"/>
                <a:cs typeface="IBM Plex Sans" pitchFamily="34" charset="-120"/>
              </a:rPr>
              <a:t>Certificate</a:t>
            </a:r>
            <a:endParaRPr lang="en-US" sz="1600" dirty="0"/>
          </a:p>
        </p:txBody>
      </p:sp>
      <p:sp>
        <p:nvSpPr>
          <p:cNvPr id="15" name="Text 13"/>
          <p:cNvSpPr/>
          <p:nvPr/>
        </p:nvSpPr>
        <p:spPr>
          <a:xfrm>
            <a:off x="8851900" y="2448564"/>
            <a:ext cx="260311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A43"/>
                </a:solidFill>
                <a:latin typeface="IBM Plex Sans" pitchFamily="34" charset="0"/>
                <a:ea typeface="IBM Plex Sans" pitchFamily="34" charset="-122"/>
                <a:cs typeface="IBM Plex Sans" pitchFamily="34" charset="-120"/>
              </a:rPr>
              <a:t>Every scan logged, failures and replacements included</a:t>
            </a:r>
            <a:endParaRPr lang="en-US" sz="1300" dirty="0"/>
          </a:p>
        </p:txBody>
      </p:sp>
      <p:sp>
        <p:nvSpPr>
          <p:cNvPr id="16" name="Shape 14"/>
          <p:cNvSpPr/>
          <p:nvPr/>
        </p:nvSpPr>
        <p:spPr>
          <a:xfrm>
            <a:off x="815975" y="3500754"/>
            <a:ext cx="5429250" cy="1520190"/>
          </a:xfrm>
          <a:prstGeom prst="roundRect">
            <a:avLst>
              <a:gd name="adj" fmla="val 6475"/>
            </a:avLst>
          </a:prstGeom>
          <a:solidFill>
            <a:srgbClr val="FFFDF8"/>
          </a:solidFill>
          <a:ln w="6350">
            <a:solidFill>
              <a:srgbClr val="DCD6C8"/>
            </a:solidFill>
            <a:prstDash val="solid"/>
          </a:ln>
        </p:spPr>
      </p:sp>
      <p:sp>
        <p:nvSpPr>
          <p:cNvPr id="17" name="Text 15"/>
          <p:cNvSpPr/>
          <p:nvPr/>
        </p:nvSpPr>
        <p:spPr>
          <a:xfrm>
            <a:off x="1021080" y="3705864"/>
            <a:ext cx="516961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5635C"/>
                </a:solidFill>
                <a:latin typeface="IBM Plex Sans" pitchFamily="34" charset="0"/>
                <a:ea typeface="IBM Plex Sans" pitchFamily="34" charset="-122"/>
                <a:cs typeface="IBM Plex Sans" pitchFamily="34" charset="-120"/>
              </a:rPr>
              <a:t>EACH SCAN RESULT</a:t>
            </a:r>
            <a:endParaRPr lang="en-US" sz="1200" dirty="0"/>
          </a:p>
        </p:txBody>
      </p:sp>
      <p:sp>
        <p:nvSpPr>
          <p:cNvPr id="18" name="Text 16"/>
          <p:cNvSpPr/>
          <p:nvPr/>
        </p:nvSpPr>
        <p:spPr>
          <a:xfrm>
            <a:off x="1021080" y="4020821"/>
            <a:ext cx="5220970" cy="2921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1A6E4A"/>
                </a:solidFill>
                <a:latin typeface="IBM Plex Sans" pitchFamily="34" charset="0"/>
                <a:ea typeface="IBM Plex Sans" pitchFamily="34" charset="-122"/>
                <a:cs typeface="IBM Plex Sans" pitchFamily="34" charset="-120"/>
              </a:rPr>
              <a:t>Green</a:t>
            </a:r>
            <a:r>
              <a:rPr lang="en-US" sz="1400" dirty="0">
                <a:solidFill>
                  <a:srgbClr val="17251F"/>
                </a:solidFill>
                <a:latin typeface="IBM Plex Sans" pitchFamily="34" charset="0"/>
                <a:ea typeface="IBM Plex Sans" pitchFamily="34" charset="-122"/>
                <a:cs typeface="IBM Plex Sans" pitchFamily="34" charset="-120"/>
              </a:rPr>
              <a:t> matched · </a:t>
            </a:r>
            <a:r>
              <a:rPr lang="en-US" sz="1400" b="1" dirty="0">
                <a:solidFill>
                  <a:srgbClr val="A86412"/>
                </a:solidFill>
                <a:latin typeface="IBM Plex Sans" pitchFamily="34" charset="0"/>
                <a:ea typeface="IBM Plex Sans" pitchFamily="34" charset="-122"/>
                <a:cs typeface="IBM Plex Sans" pitchFamily="34" charset="-120"/>
              </a:rPr>
              <a:t>Amber</a:t>
            </a:r>
            <a:r>
              <a:rPr lang="en-US" sz="1400" dirty="0">
                <a:solidFill>
                  <a:srgbClr val="17251F"/>
                </a:solidFill>
                <a:latin typeface="IBM Plex Sans" pitchFamily="34" charset="0"/>
                <a:ea typeface="IBM Plex Sans" pitchFamily="34" charset="-122"/>
                <a:cs typeface="IBM Plex Sans" pitchFamily="34" charset="-120"/>
              </a:rPr>
              <a:t> wrong model · </a:t>
            </a:r>
            <a:r>
              <a:rPr lang="en-US" sz="1400" b="1" dirty="0">
                <a:solidFill>
                  <a:srgbClr val="B03A2E"/>
                </a:solidFill>
                <a:latin typeface="IBM Plex Sans" pitchFamily="34" charset="0"/>
                <a:ea typeface="IBM Plex Sans" pitchFamily="34" charset="-122"/>
                <a:cs typeface="IBM Plex Sans" pitchFamily="34" charset="-120"/>
              </a:rPr>
              <a:t>Red</a:t>
            </a:r>
            <a:r>
              <a:rPr lang="en-US" sz="1400" dirty="0">
                <a:solidFill>
                  <a:srgbClr val="17251F"/>
                </a:solidFill>
                <a:latin typeface="IBM Plex Sans" pitchFamily="34" charset="0"/>
                <a:ea typeface="IBM Plex Sans" pitchFamily="34" charset="-122"/>
                <a:cs typeface="IBM Plex Sans" pitchFamily="34" charset="-120"/>
              </a:rPr>
              <a:t> already financed</a:t>
            </a:r>
            <a:endParaRPr lang="en-US" sz="1400" dirty="0"/>
          </a:p>
        </p:txBody>
      </p:sp>
      <p:sp>
        <p:nvSpPr>
          <p:cNvPr id="19" name="Text 17"/>
          <p:cNvSpPr/>
          <p:nvPr/>
        </p:nvSpPr>
        <p:spPr>
          <a:xfrm>
            <a:off x="1021080" y="4389121"/>
            <a:ext cx="516961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35C"/>
                </a:solidFill>
                <a:latin typeface="IBM Plex Sans" pitchFamily="34" charset="0"/>
                <a:ea typeface="IBM Plex Sans" pitchFamily="34" charset="-122"/>
                <a:cs typeface="IBM Plex Sans" pitchFamily="34" charset="-120"/>
              </a:rPr>
              <a:t>Red and amber block payment until replaced: proceeds go only to the approved equipment</a:t>
            </a:r>
            <a:endParaRPr lang="en-US" sz="1200" dirty="0"/>
          </a:p>
        </p:txBody>
      </p:sp>
      <p:sp>
        <p:nvSpPr>
          <p:cNvPr id="20" name="Shape 18"/>
          <p:cNvSpPr/>
          <p:nvPr/>
        </p:nvSpPr>
        <p:spPr>
          <a:xfrm>
            <a:off x="6400800" y="3497579"/>
            <a:ext cx="2413000" cy="1526540"/>
          </a:xfrm>
          <a:prstGeom prst="roundRect">
            <a:avLst>
              <a:gd name="adj" fmla="val 6656"/>
            </a:avLst>
          </a:prstGeom>
          <a:solidFill>
            <a:srgbClr val="0E2A23"/>
          </a:solidFill>
          <a:ln/>
        </p:spPr>
      </p:sp>
      <p:sp>
        <p:nvSpPr>
          <p:cNvPr id="21" name="Text 19"/>
          <p:cNvSpPr/>
          <p:nvPr/>
        </p:nvSpPr>
        <p:spPr>
          <a:xfrm>
            <a:off x="6604000" y="3700779"/>
            <a:ext cx="206679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FD3A0"/>
                </a:solidFill>
                <a:latin typeface="IBM Plex Sans" pitchFamily="34" charset="0"/>
                <a:ea typeface="IBM Plex Sans" pitchFamily="34" charset="-122"/>
                <a:cs typeface="IBM Plex Sans" pitchFamily="34" charset="-120"/>
              </a:rPr>
              <a:t>PAYMENT 1 · DELIVERY</a:t>
            </a:r>
            <a:endParaRPr lang="en-US" sz="1200" dirty="0"/>
          </a:p>
        </p:txBody>
      </p:sp>
      <p:sp>
        <p:nvSpPr>
          <p:cNvPr id="22" name="Text 20"/>
          <p:cNvSpPr/>
          <p:nvPr/>
        </p:nvSpPr>
        <p:spPr>
          <a:xfrm>
            <a:off x="6604000" y="3964942"/>
            <a:ext cx="2066798"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F3F0E6"/>
                </a:solidFill>
                <a:latin typeface="IBM Plex Sans" pitchFamily="34" charset="0"/>
                <a:ea typeface="IBM Plex Sans" pitchFamily="34" charset="-122"/>
                <a:cs typeface="IBM Plex Sans" pitchFamily="34" charset="-120"/>
              </a:rPr>
              <a:t>JOD 206,400</a:t>
            </a:r>
            <a:endParaRPr lang="en-US" sz="2400" dirty="0"/>
          </a:p>
        </p:txBody>
      </p:sp>
      <p:sp>
        <p:nvSpPr>
          <p:cNvPr id="23" name="Text 21"/>
          <p:cNvSpPr/>
          <p:nvPr/>
        </p:nvSpPr>
        <p:spPr>
          <a:xfrm>
            <a:off x="6604000" y="4442464"/>
            <a:ext cx="206679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CF"/>
                </a:solidFill>
                <a:latin typeface="IBM Plex Sans" pitchFamily="34" charset="0"/>
                <a:ea typeface="IBM Plex Sans" pitchFamily="34" charset="-122"/>
                <a:cs typeface="IBM Plex Sans" pitchFamily="34" charset="-120"/>
              </a:rPr>
              <a:t>60% of the loan</a:t>
            </a:r>
            <a:endParaRPr lang="en-US" sz="1200" dirty="0"/>
          </a:p>
        </p:txBody>
      </p:sp>
      <p:sp>
        <p:nvSpPr>
          <p:cNvPr id="24" name="Shape 22"/>
          <p:cNvSpPr/>
          <p:nvPr/>
        </p:nvSpPr>
        <p:spPr>
          <a:xfrm>
            <a:off x="8966200" y="3497579"/>
            <a:ext cx="2413000" cy="1526540"/>
          </a:xfrm>
          <a:prstGeom prst="roundRect">
            <a:avLst>
              <a:gd name="adj" fmla="val 6656"/>
            </a:avLst>
          </a:prstGeom>
          <a:solidFill>
            <a:srgbClr val="0E2A23"/>
          </a:solidFill>
          <a:ln/>
        </p:spPr>
      </p:sp>
      <p:sp>
        <p:nvSpPr>
          <p:cNvPr id="25" name="Text 23"/>
          <p:cNvSpPr/>
          <p:nvPr/>
        </p:nvSpPr>
        <p:spPr>
          <a:xfrm>
            <a:off x="9169400" y="3700779"/>
            <a:ext cx="206679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FD3A0"/>
                </a:solidFill>
                <a:latin typeface="IBM Plex Sans" pitchFamily="34" charset="0"/>
                <a:ea typeface="IBM Plex Sans" pitchFamily="34" charset="-122"/>
                <a:cs typeface="IBM Plex Sans" pitchFamily="34" charset="-120"/>
              </a:rPr>
              <a:t>PAYMENT 2 · SWITCH-ON</a:t>
            </a:r>
            <a:endParaRPr lang="en-US" sz="1200" dirty="0"/>
          </a:p>
        </p:txBody>
      </p:sp>
      <p:sp>
        <p:nvSpPr>
          <p:cNvPr id="26" name="Text 24"/>
          <p:cNvSpPr/>
          <p:nvPr/>
        </p:nvSpPr>
        <p:spPr>
          <a:xfrm>
            <a:off x="9169400" y="3964942"/>
            <a:ext cx="2066798"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F3F0E6"/>
                </a:solidFill>
                <a:latin typeface="IBM Plex Sans" pitchFamily="34" charset="0"/>
                <a:ea typeface="IBM Plex Sans" pitchFamily="34" charset="-122"/>
                <a:cs typeface="IBM Plex Sans" pitchFamily="34" charset="-120"/>
              </a:rPr>
              <a:t>JOD 137,600</a:t>
            </a:r>
            <a:endParaRPr lang="en-US" sz="2400" dirty="0"/>
          </a:p>
        </p:txBody>
      </p:sp>
      <p:sp>
        <p:nvSpPr>
          <p:cNvPr id="27" name="Text 25"/>
          <p:cNvSpPr/>
          <p:nvPr/>
        </p:nvSpPr>
        <p:spPr>
          <a:xfrm>
            <a:off x="9169400" y="4442464"/>
            <a:ext cx="206679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CF"/>
                </a:solidFill>
                <a:latin typeface="IBM Plex Sans" pitchFamily="34" charset="0"/>
                <a:ea typeface="IBM Plex Sans" pitchFamily="34" charset="-122"/>
                <a:cs typeface="IBM Plex Sans" pitchFamily="34" charset="-120"/>
              </a:rPr>
              <a:t>40% of the loan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6E4A"/>
        </a:solidFill>
      </p:bgPr>
    </p:bg>
    <p:spTree>
      <p:nvGrpSpPr>
        <p:cNvPr id="1" name=""/>
        <p:cNvGrpSpPr/>
        <p:nvPr/>
      </p:nvGrpSpPr>
      <p:grpSpPr>
        <a:xfrm>
          <a:off x="0" y="0"/>
          <a:ext cx="0" cy="0"/>
          <a:chOff x="0" y="0"/>
          <a:chExt cx="0" cy="0"/>
        </a:xfrm>
      </p:grpSpPr>
      <p:sp>
        <p:nvSpPr>
          <p:cNvPr id="2" name="Text 0"/>
          <p:cNvSpPr/>
          <p:nvPr/>
        </p:nvSpPr>
        <p:spPr>
          <a:xfrm>
            <a:off x="812800" y="2042164"/>
            <a:ext cx="10883392" cy="309880"/>
          </a:xfrm>
          <a:prstGeom prst="rect">
            <a:avLst/>
          </a:prstGeom>
          <a:noFill/>
          <a:ln/>
        </p:spPr>
        <p:txBody>
          <a:bodyPr wrap="square" lIns="0" tIns="0" rIns="0" bIns="0" rtlCol="0" anchor="t">
            <a:normAutofit/>
          </a:bodyPr>
          <a:lstStyle/>
          <a:p>
            <a:pPr algn="l" indent="0" marL="0">
              <a:lnSpc>
                <a:spcPts val="2240"/>
              </a:lnSpc>
              <a:buNone/>
            </a:pPr>
            <a:r>
              <a:rPr lang="en-US" sz="1600" b="1" spc="200" kern="0" dirty="0">
                <a:solidFill>
                  <a:srgbClr val="CDEFDD"/>
                </a:solidFill>
                <a:latin typeface="IBM Plex Sans" pitchFamily="34" charset="0"/>
                <a:ea typeface="IBM Plex Sans" pitchFamily="34" charset="-122"/>
                <a:cs typeface="IBM Plex Sans" pitchFamily="34" charset="-120"/>
              </a:rPr>
              <a:t>LIVE DEMO 2 · PHASE 2 · LAPTOP + PHONE</a:t>
            </a:r>
            <a:endParaRPr lang="en-US" sz="1600" dirty="0"/>
          </a:p>
        </p:txBody>
      </p:sp>
      <p:sp>
        <p:nvSpPr>
          <p:cNvPr id="3" name="Text 1"/>
          <p:cNvSpPr/>
          <p:nvPr>
            <p:ph type="title"/>
          </p:nvPr>
        </p:nvSpPr>
        <p:spPr>
          <a:xfrm>
            <a:off x="812800" y="2631442"/>
            <a:ext cx="10883392" cy="66548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3F0E6"/>
                </a:solidFill>
                <a:latin typeface="IBM Plex Sans" pitchFamily="34" charset="0"/>
                <a:ea typeface="IBM Plex Sans" pitchFamily="34" charset="-122"/>
                <a:cs typeface="IBM Plex Sans" pitchFamily="34" charset="-120"/>
              </a:rPr>
              <a:t>Verifying a hospital's installation</a:t>
            </a:r>
            <a:endParaRPr lang="en-US" sz="4800" dirty="0"/>
          </a:p>
        </p:txBody>
      </p:sp>
      <p:sp>
        <p:nvSpPr>
          <p:cNvPr id="4" name="Text 2"/>
          <p:cNvSpPr/>
          <p:nvPr/>
        </p:nvSpPr>
        <p:spPr>
          <a:xfrm>
            <a:off x="812800" y="3576321"/>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DEFDD"/>
                </a:solidFill>
                <a:latin typeface="IBM Plex Sans" pitchFamily="34" charset="0"/>
                <a:ea typeface="IBM Plex Sans" pitchFamily="34" charset="-122"/>
                <a:cs typeface="IBM Plex Sans" pitchFamily="34" charset="-120"/>
              </a:rPr>
              <a:t>Same preview, on the installer's phone; scan results and site photos are scripted; no money moves</a:t>
            </a:r>
            <a:endParaRPr lang="en-US" sz="1600" dirty="0"/>
          </a:p>
        </p:txBody>
      </p:sp>
      <p:sp>
        <p:nvSpPr>
          <p:cNvPr id="5" name="Shape 3"/>
          <p:cNvSpPr/>
          <p:nvPr/>
        </p:nvSpPr>
        <p:spPr>
          <a:xfrm>
            <a:off x="812800" y="4178300"/>
            <a:ext cx="2489200" cy="0"/>
          </a:xfrm>
          <a:prstGeom prst="line">
            <a:avLst/>
          </a:prstGeom>
          <a:noFill/>
          <a:ln w="25400">
            <a:solidFill>
              <a:srgbClr val="CDEFDD"/>
            </a:solidFill>
            <a:prstDash val="solid"/>
          </a:ln>
        </p:spPr>
      </p:sp>
      <p:sp>
        <p:nvSpPr>
          <p:cNvPr id="6" name="Text 4"/>
          <p:cNvSpPr/>
          <p:nvPr/>
        </p:nvSpPr>
        <p:spPr>
          <a:xfrm>
            <a:off x="812800" y="4318000"/>
            <a:ext cx="256387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0E6"/>
                </a:solidFill>
                <a:latin typeface="IBM Plex Sans" pitchFamily="34" charset="0"/>
                <a:ea typeface="IBM Plex Sans" pitchFamily="34" charset="-122"/>
                <a:cs typeface="IBM Plex Sans" pitchFamily="34" charset="-120"/>
              </a:rPr>
              <a:t>Code TQ-4821 opens the installer's phone page</a:t>
            </a:r>
            <a:endParaRPr lang="en-US" sz="1400" dirty="0"/>
          </a:p>
        </p:txBody>
      </p:sp>
      <p:sp>
        <p:nvSpPr>
          <p:cNvPr id="7" name="Shape 5"/>
          <p:cNvSpPr/>
          <p:nvPr/>
        </p:nvSpPr>
        <p:spPr>
          <a:xfrm>
            <a:off x="3505200" y="4178300"/>
            <a:ext cx="2489200" cy="0"/>
          </a:xfrm>
          <a:prstGeom prst="line">
            <a:avLst/>
          </a:prstGeom>
          <a:noFill/>
          <a:ln w="25400">
            <a:solidFill>
              <a:srgbClr val="CDEFDD"/>
            </a:solidFill>
            <a:prstDash val="solid"/>
          </a:ln>
        </p:spPr>
      </p:sp>
      <p:sp>
        <p:nvSpPr>
          <p:cNvPr id="8" name="Text 6"/>
          <p:cNvSpPr/>
          <p:nvPr/>
        </p:nvSpPr>
        <p:spPr>
          <a:xfrm>
            <a:off x="3505200" y="4318000"/>
            <a:ext cx="256387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0E6"/>
                </a:solidFill>
                <a:latin typeface="IBM Plex Sans" pitchFamily="34" charset="0"/>
                <a:ea typeface="IBM Plex Sans" pitchFamily="34" charset="-122"/>
                <a:cs typeface="IBM Plex Sans" pitchFamily="34" charset="-120"/>
              </a:rPr>
              <a:t>Delivery scans: green, red, amber, then replacements</a:t>
            </a:r>
            <a:endParaRPr lang="en-US" sz="1400" dirty="0"/>
          </a:p>
        </p:txBody>
      </p:sp>
      <p:sp>
        <p:nvSpPr>
          <p:cNvPr id="9" name="Shape 7"/>
          <p:cNvSpPr/>
          <p:nvPr/>
        </p:nvSpPr>
        <p:spPr>
          <a:xfrm>
            <a:off x="6197600" y="4178300"/>
            <a:ext cx="2489200" cy="0"/>
          </a:xfrm>
          <a:prstGeom prst="line">
            <a:avLst/>
          </a:prstGeom>
          <a:noFill/>
          <a:ln w="25400">
            <a:solidFill>
              <a:srgbClr val="CDEFDD"/>
            </a:solidFill>
            <a:prstDash val="solid"/>
          </a:ln>
        </p:spPr>
      </p:sp>
      <p:sp>
        <p:nvSpPr>
          <p:cNvPr id="10" name="Text 8"/>
          <p:cNvSpPr/>
          <p:nvPr/>
        </p:nvSpPr>
        <p:spPr>
          <a:xfrm>
            <a:off x="6197600" y="4318000"/>
            <a:ext cx="256387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0E6"/>
                </a:solidFill>
                <a:latin typeface="IBM Plex Sans" pitchFamily="34" charset="0"/>
                <a:ea typeface="IBM Plex Sans" pitchFamily="34" charset="-122"/>
                <a:cs typeface="IBM Plex Sans" pitchFamily="34" charset="-120"/>
              </a:rPr>
              <a:t>Bank officer releases payment 1</a:t>
            </a:r>
            <a:endParaRPr lang="en-US" sz="1400" dirty="0"/>
          </a:p>
        </p:txBody>
      </p:sp>
      <p:sp>
        <p:nvSpPr>
          <p:cNvPr id="11" name="Shape 9"/>
          <p:cNvSpPr/>
          <p:nvPr/>
        </p:nvSpPr>
        <p:spPr>
          <a:xfrm>
            <a:off x="8890000" y="4178300"/>
            <a:ext cx="2489200" cy="0"/>
          </a:xfrm>
          <a:prstGeom prst="line">
            <a:avLst/>
          </a:prstGeom>
          <a:noFill/>
          <a:ln w="25400">
            <a:solidFill>
              <a:srgbClr val="CDEFDD"/>
            </a:solidFill>
            <a:prstDash val="solid"/>
          </a:ln>
        </p:spPr>
      </p:sp>
      <p:sp>
        <p:nvSpPr>
          <p:cNvPr id="12" name="Text 10"/>
          <p:cNvSpPr/>
          <p:nvPr/>
        </p:nvSpPr>
        <p:spPr>
          <a:xfrm>
            <a:off x="8890000" y="4318000"/>
            <a:ext cx="256387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0E6"/>
                </a:solidFill>
                <a:latin typeface="IBM Plex Sans" pitchFamily="34" charset="0"/>
                <a:ea typeface="IBM Plex Sans" pitchFamily="34" charset="-122"/>
                <a:cs typeface="IBM Plex Sans" pitchFamily="34" charset="-120"/>
              </a:rPr>
              <a:t>Switch-on photos, payment 2 and the certificate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51F"/>
                </a:solidFill>
                <a:latin typeface="IBM Plex Sans" pitchFamily="34" charset="0"/>
                <a:ea typeface="IBM Plex Sans" pitchFamily="34" charset="-122"/>
                <a:cs typeface="IBM Plex Sans" pitchFamily="34" charset="-120"/>
              </a:rPr>
              <a:t>Who benefits, and how</a:t>
            </a:r>
            <a:endParaRPr lang="en-US" sz="3200" dirty="0"/>
          </a:p>
        </p:txBody>
      </p:sp>
      <p:sp>
        <p:nvSpPr>
          <p:cNvPr id="3" name="Shape 1"/>
          <p:cNvSpPr/>
          <p:nvPr/>
        </p:nvSpPr>
        <p:spPr>
          <a:xfrm>
            <a:off x="815975" y="1618617"/>
            <a:ext cx="3397250" cy="1474470"/>
          </a:xfrm>
          <a:prstGeom prst="roundRect">
            <a:avLst>
              <a:gd name="adj" fmla="val 6675"/>
            </a:avLst>
          </a:prstGeom>
          <a:solidFill>
            <a:srgbClr val="FFFDF8"/>
          </a:solidFill>
          <a:ln w="6350">
            <a:solidFill>
              <a:srgbClr val="DCD6C8"/>
            </a:solidFill>
            <a:prstDash val="solid"/>
          </a:ln>
        </p:spPr>
      </p:sp>
      <p:sp>
        <p:nvSpPr>
          <p:cNvPr id="4" name="Text 2"/>
          <p:cNvSpPr/>
          <p:nvPr/>
        </p:nvSpPr>
        <p:spPr>
          <a:xfrm>
            <a:off x="1046480" y="1849121"/>
            <a:ext cx="302432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6E4A"/>
                </a:solidFill>
                <a:latin typeface="IBM Plex Sans" pitchFamily="34" charset="0"/>
                <a:ea typeface="IBM Plex Sans" pitchFamily="34" charset="-122"/>
                <a:cs typeface="IBM Plex Sans" pitchFamily="34" charset="-120"/>
              </a:rPr>
              <a:t>Banks</a:t>
            </a:r>
            <a:endParaRPr lang="en-US" sz="1600" dirty="0"/>
          </a:p>
        </p:txBody>
      </p:sp>
      <p:sp>
        <p:nvSpPr>
          <p:cNvPr id="5" name="Text 3"/>
          <p:cNvSpPr/>
          <p:nvPr/>
        </p:nvSpPr>
        <p:spPr>
          <a:xfrm>
            <a:off x="1046480" y="2169164"/>
            <a:ext cx="3024327"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7251F"/>
                </a:solidFill>
                <a:latin typeface="IBM Plex Sans" pitchFamily="34" charset="0"/>
                <a:ea typeface="IBM Plex Sans" pitchFamily="34" charset="-122"/>
                <a:cs typeface="IBM Plex Sans" pitchFamily="34" charset="-120"/>
              </a:rPr>
              <a:t>Approve green loans faster, with compliance checked and documented, and release money only against proof</a:t>
            </a:r>
            <a:endParaRPr lang="en-US" sz="1300" dirty="0"/>
          </a:p>
        </p:txBody>
      </p:sp>
      <p:sp>
        <p:nvSpPr>
          <p:cNvPr id="6" name="Shape 4"/>
          <p:cNvSpPr/>
          <p:nvPr/>
        </p:nvSpPr>
        <p:spPr>
          <a:xfrm>
            <a:off x="4397375" y="1618617"/>
            <a:ext cx="3397250" cy="1474470"/>
          </a:xfrm>
          <a:prstGeom prst="roundRect">
            <a:avLst>
              <a:gd name="adj" fmla="val 6675"/>
            </a:avLst>
          </a:prstGeom>
          <a:solidFill>
            <a:srgbClr val="FFFDF8"/>
          </a:solidFill>
          <a:ln w="6350">
            <a:solidFill>
              <a:srgbClr val="DCD6C8"/>
            </a:solidFill>
            <a:prstDash val="solid"/>
          </a:ln>
        </p:spPr>
      </p:sp>
      <p:sp>
        <p:nvSpPr>
          <p:cNvPr id="7" name="Text 5"/>
          <p:cNvSpPr/>
          <p:nvPr/>
        </p:nvSpPr>
        <p:spPr>
          <a:xfrm>
            <a:off x="4627880" y="1849121"/>
            <a:ext cx="302432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6E4A"/>
                </a:solidFill>
                <a:latin typeface="IBM Plex Sans" pitchFamily="34" charset="0"/>
                <a:ea typeface="IBM Plex Sans" pitchFamily="34" charset="-122"/>
                <a:cs typeface="IBM Plex Sans" pitchFamily="34" charset="-120"/>
              </a:rPr>
              <a:t>Institutions</a:t>
            </a:r>
            <a:endParaRPr lang="en-US" sz="1600" dirty="0"/>
          </a:p>
        </p:txBody>
      </p:sp>
      <p:sp>
        <p:nvSpPr>
          <p:cNvPr id="8" name="Text 6"/>
          <p:cNvSpPr/>
          <p:nvPr/>
        </p:nvSpPr>
        <p:spPr>
          <a:xfrm>
            <a:off x="4627880" y="2169164"/>
            <a:ext cx="3024327"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7251F"/>
                </a:solidFill>
                <a:latin typeface="IBM Plex Sans" pitchFamily="34" charset="0"/>
                <a:ea typeface="IBM Plex Sans" pitchFamily="34" charset="-122"/>
                <a:cs typeface="IBM Plex Sans" pitchFamily="34" charset="-120"/>
              </a:rPr>
              <a:t>Know exactly what to submit and who holds it, so the application stops going back and forth</a:t>
            </a:r>
            <a:endParaRPr lang="en-US" sz="1300" dirty="0"/>
          </a:p>
        </p:txBody>
      </p:sp>
      <p:sp>
        <p:nvSpPr>
          <p:cNvPr id="9" name="Shape 7"/>
          <p:cNvSpPr/>
          <p:nvPr/>
        </p:nvSpPr>
        <p:spPr>
          <a:xfrm>
            <a:off x="7978775" y="1618617"/>
            <a:ext cx="3397250" cy="1474470"/>
          </a:xfrm>
          <a:prstGeom prst="roundRect">
            <a:avLst>
              <a:gd name="adj" fmla="val 6675"/>
            </a:avLst>
          </a:prstGeom>
          <a:solidFill>
            <a:srgbClr val="FFFDF8"/>
          </a:solidFill>
          <a:ln w="6350">
            <a:solidFill>
              <a:srgbClr val="DCD6C8"/>
            </a:solidFill>
            <a:prstDash val="solid"/>
          </a:ln>
        </p:spPr>
      </p:sp>
      <p:sp>
        <p:nvSpPr>
          <p:cNvPr id="10" name="Text 8"/>
          <p:cNvSpPr/>
          <p:nvPr/>
        </p:nvSpPr>
        <p:spPr>
          <a:xfrm>
            <a:off x="8209280" y="1849121"/>
            <a:ext cx="302432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6E4A"/>
                </a:solidFill>
                <a:latin typeface="IBM Plex Sans" pitchFamily="34" charset="0"/>
                <a:ea typeface="IBM Plex Sans" pitchFamily="34" charset="-122"/>
                <a:cs typeface="IBM Plex Sans" pitchFamily="34" charset="-120"/>
              </a:rPr>
              <a:t>Installers</a:t>
            </a:r>
            <a:endParaRPr lang="en-US" sz="1600" dirty="0"/>
          </a:p>
        </p:txBody>
      </p:sp>
      <p:sp>
        <p:nvSpPr>
          <p:cNvPr id="11" name="Text 9"/>
          <p:cNvSpPr/>
          <p:nvPr/>
        </p:nvSpPr>
        <p:spPr>
          <a:xfrm>
            <a:off x="8209280" y="2169164"/>
            <a:ext cx="3024327"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7251F"/>
                </a:solidFill>
                <a:latin typeface="IBM Plex Sans" pitchFamily="34" charset="0"/>
                <a:ea typeface="IBM Plex Sans" pitchFamily="34" charset="-122"/>
                <a:cs typeface="IBM Plex Sans" pitchFamily="34" charset="-120"/>
              </a:rPr>
              <a:t>A simple phone check in Arabic or English; payment unlocks for the bank to release as soon as delivery is verified</a:t>
            </a:r>
            <a:endParaRPr lang="en-US" sz="1300" dirty="0"/>
          </a:p>
        </p:txBody>
      </p:sp>
      <p:sp>
        <p:nvSpPr>
          <p:cNvPr id="12" name="Shape 10"/>
          <p:cNvSpPr/>
          <p:nvPr/>
        </p:nvSpPr>
        <p:spPr>
          <a:xfrm>
            <a:off x="815975" y="3277239"/>
            <a:ext cx="3397250" cy="1464310"/>
          </a:xfrm>
          <a:prstGeom prst="roundRect">
            <a:avLst>
              <a:gd name="adj" fmla="val 6722"/>
            </a:avLst>
          </a:prstGeom>
          <a:solidFill>
            <a:srgbClr val="FFFDF8"/>
          </a:solidFill>
          <a:ln w="6350">
            <a:solidFill>
              <a:srgbClr val="DCD6C8"/>
            </a:solidFill>
            <a:prstDash val="solid"/>
          </a:ln>
        </p:spPr>
      </p:sp>
      <p:sp>
        <p:nvSpPr>
          <p:cNvPr id="13" name="Text 11"/>
          <p:cNvSpPr/>
          <p:nvPr/>
        </p:nvSpPr>
        <p:spPr>
          <a:xfrm>
            <a:off x="1046480" y="3507742"/>
            <a:ext cx="302432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6E4A"/>
                </a:solidFill>
                <a:latin typeface="IBM Plex Sans" pitchFamily="34" charset="0"/>
                <a:ea typeface="IBM Plex Sans" pitchFamily="34" charset="-122"/>
                <a:cs typeface="IBM Plex Sans" pitchFamily="34" charset="-120"/>
              </a:rPr>
              <a:t>CBJ</a:t>
            </a:r>
            <a:endParaRPr lang="en-US" sz="1600" dirty="0"/>
          </a:p>
        </p:txBody>
      </p:sp>
      <p:sp>
        <p:nvSpPr>
          <p:cNvPr id="14" name="Text 12"/>
          <p:cNvSpPr/>
          <p:nvPr/>
        </p:nvSpPr>
        <p:spPr>
          <a:xfrm>
            <a:off x="1046480" y="3827779"/>
            <a:ext cx="3024327"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7251F"/>
                </a:solidFill>
                <a:latin typeface="IBM Plex Sans" pitchFamily="34" charset="0"/>
                <a:ea typeface="IBM Plex Sans" pitchFamily="34" charset="-122"/>
                <a:cs typeface="IBM Plex Sans" pitchFamily="34" charset="-120"/>
              </a:rPr>
              <a:t>Banks apply the national taxonomy the same way, with evidence it can check</a:t>
            </a:r>
            <a:endParaRPr lang="en-US" sz="1300" dirty="0"/>
          </a:p>
        </p:txBody>
      </p:sp>
      <p:sp>
        <p:nvSpPr>
          <p:cNvPr id="15" name="Shape 13"/>
          <p:cNvSpPr/>
          <p:nvPr/>
        </p:nvSpPr>
        <p:spPr>
          <a:xfrm>
            <a:off x="4397375" y="3277239"/>
            <a:ext cx="3397250" cy="1464310"/>
          </a:xfrm>
          <a:prstGeom prst="roundRect">
            <a:avLst>
              <a:gd name="adj" fmla="val 6722"/>
            </a:avLst>
          </a:prstGeom>
          <a:solidFill>
            <a:srgbClr val="FFFDF8"/>
          </a:solidFill>
          <a:ln w="6350">
            <a:solidFill>
              <a:srgbClr val="DCD6C8"/>
            </a:solidFill>
            <a:prstDash val="solid"/>
          </a:ln>
        </p:spPr>
      </p:sp>
      <p:sp>
        <p:nvSpPr>
          <p:cNvPr id="16" name="Text 14"/>
          <p:cNvSpPr/>
          <p:nvPr/>
        </p:nvSpPr>
        <p:spPr>
          <a:xfrm>
            <a:off x="4627880" y="3507742"/>
            <a:ext cx="302432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6E4A"/>
                </a:solidFill>
                <a:latin typeface="IBM Plex Sans" pitchFamily="34" charset="0"/>
                <a:ea typeface="IBM Plex Sans" pitchFamily="34" charset="-122"/>
                <a:cs typeface="IBM Plex Sans" pitchFamily="34" charset="-120"/>
              </a:rPr>
              <a:t>Auditors</a:t>
            </a:r>
            <a:endParaRPr lang="en-US" sz="1600" dirty="0"/>
          </a:p>
        </p:txBody>
      </p:sp>
      <p:sp>
        <p:nvSpPr>
          <p:cNvPr id="17" name="Text 15"/>
          <p:cNvSpPr/>
          <p:nvPr/>
        </p:nvSpPr>
        <p:spPr>
          <a:xfrm>
            <a:off x="4627880" y="3827779"/>
            <a:ext cx="3024327"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7251F"/>
                </a:solidFill>
                <a:latin typeface="IBM Plex Sans" pitchFamily="34" charset="0"/>
                <a:ea typeface="IBM Plex Sans" pitchFamily="34" charset="-122"/>
                <a:cs typeface="IBM Plex Sans" pitchFamily="34" charset="-120"/>
              </a:rPr>
              <a:t>Every number traces back to a document, a page and a rule</a:t>
            </a:r>
            <a:endParaRPr lang="en-US" sz="1300" dirty="0"/>
          </a:p>
        </p:txBody>
      </p:sp>
      <p:sp>
        <p:nvSpPr>
          <p:cNvPr id="18" name="Shape 16"/>
          <p:cNvSpPr/>
          <p:nvPr/>
        </p:nvSpPr>
        <p:spPr>
          <a:xfrm>
            <a:off x="7975600" y="3274064"/>
            <a:ext cx="3403600" cy="1470660"/>
          </a:xfrm>
          <a:prstGeom prst="roundRect">
            <a:avLst>
              <a:gd name="adj" fmla="val 6908"/>
            </a:avLst>
          </a:prstGeom>
          <a:solidFill>
            <a:srgbClr val="0E2A23"/>
          </a:solidFill>
          <a:ln/>
        </p:spPr>
      </p:sp>
      <p:sp>
        <p:nvSpPr>
          <p:cNvPr id="19" name="Text 17"/>
          <p:cNvSpPr/>
          <p:nvPr/>
        </p:nvSpPr>
        <p:spPr>
          <a:xfrm>
            <a:off x="8204200" y="3502664"/>
            <a:ext cx="303479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6FD3A0"/>
                </a:solidFill>
                <a:latin typeface="IBM Plex Sans" pitchFamily="34" charset="0"/>
                <a:ea typeface="IBM Plex Sans" pitchFamily="34" charset="-122"/>
                <a:cs typeface="IBM Plex Sans" pitchFamily="34" charset="-120"/>
              </a:rPr>
              <a:t>Jordan</a:t>
            </a:r>
            <a:endParaRPr lang="en-US" sz="1600" dirty="0"/>
          </a:p>
        </p:txBody>
      </p:sp>
      <p:sp>
        <p:nvSpPr>
          <p:cNvPr id="20" name="Text 18"/>
          <p:cNvSpPr/>
          <p:nvPr/>
        </p:nvSpPr>
        <p:spPr>
          <a:xfrm>
            <a:off x="8204200" y="3822700"/>
            <a:ext cx="3034792"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3F0E6"/>
                </a:solidFill>
                <a:latin typeface="IBM Plex Sans" pitchFamily="34" charset="0"/>
                <a:ea typeface="IBM Plex Sans" pitchFamily="34" charset="-122"/>
                <a:cs typeface="IBM Plex Sans" pitchFamily="34" charset="-120"/>
              </a:rPr>
              <a:t>More green finance flowing, and every dinar landing on real, working equipment. More on the next slide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2A23"/>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3F0E6"/>
                </a:solidFill>
                <a:latin typeface="IBM Plex Sans" pitchFamily="34" charset="0"/>
                <a:ea typeface="IBM Plex Sans" pitchFamily="34" charset="-122"/>
                <a:cs typeface="IBM Plex Sans" pitchFamily="34" charset="-120"/>
              </a:rPr>
              <a:t>What it means for Jordan</a:t>
            </a:r>
            <a:endParaRPr lang="en-US" sz="3200" dirty="0"/>
          </a:p>
        </p:txBody>
      </p:sp>
      <p:sp>
        <p:nvSpPr>
          <p:cNvPr id="3" name="Shape 1"/>
          <p:cNvSpPr/>
          <p:nvPr/>
        </p:nvSpPr>
        <p:spPr>
          <a:xfrm>
            <a:off x="812800" y="1908812"/>
            <a:ext cx="5080000" cy="0"/>
          </a:xfrm>
          <a:prstGeom prst="line">
            <a:avLst/>
          </a:prstGeom>
          <a:noFill/>
          <a:ln w="12700">
            <a:solidFill>
              <a:srgbClr val="6FD3A0"/>
            </a:solidFill>
            <a:prstDash val="solid"/>
          </a:ln>
        </p:spPr>
      </p:sp>
      <p:sp>
        <p:nvSpPr>
          <p:cNvPr id="4" name="Text 2"/>
          <p:cNvSpPr/>
          <p:nvPr/>
        </p:nvSpPr>
        <p:spPr>
          <a:xfrm>
            <a:off x="812800" y="16154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FD3A0"/>
                </a:solidFill>
                <a:latin typeface="IBM Plex Sans" pitchFamily="34" charset="0"/>
                <a:ea typeface="IBM Plex Sans" pitchFamily="34" charset="-122"/>
                <a:cs typeface="IBM Plex Sans" pitchFamily="34" charset="-120"/>
              </a:rPr>
              <a:t>DIRECT</a:t>
            </a:r>
            <a:endParaRPr lang="en-US" sz="1200" dirty="0"/>
          </a:p>
        </p:txBody>
      </p:sp>
      <p:sp>
        <p:nvSpPr>
          <p:cNvPr id="5" name="Text 3"/>
          <p:cNvSpPr/>
          <p:nvPr/>
        </p:nvSpPr>
        <p:spPr>
          <a:xfrm>
            <a:off x="812800" y="2092964"/>
            <a:ext cx="52324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6FD3A0"/>
                </a:solidFill>
                <a:latin typeface="IBM Plex Sans" pitchFamily="34" charset="0"/>
                <a:ea typeface="IBM Plex Sans" pitchFamily="34" charset="-122"/>
                <a:cs typeface="IBM Plex Sans" pitchFamily="34" charset="-120"/>
              </a:rPr>
              <a:t>Green money reaches real projects</a:t>
            </a:r>
            <a:endParaRPr lang="en-US" sz="1500" dirty="0"/>
          </a:p>
        </p:txBody>
      </p:sp>
      <p:sp>
        <p:nvSpPr>
          <p:cNvPr id="6" name="Text 4"/>
          <p:cNvSpPr/>
          <p:nvPr/>
        </p:nvSpPr>
        <p:spPr>
          <a:xfrm>
            <a:off x="812800" y="2359664"/>
            <a:ext cx="523240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6CF"/>
                </a:solidFill>
                <a:latin typeface="IBM Plex Sans" pitchFamily="34" charset="0"/>
                <a:ea typeface="IBM Plex Sans" pitchFamily="34" charset="-122"/>
                <a:cs typeface="IBM Plex Sans" pitchFamily="34" charset="-120"/>
              </a:rPr>
              <a:t>Financed equipment is checked as delivered and switched on before money moves</a:t>
            </a:r>
            <a:endParaRPr lang="en-US" sz="1300" dirty="0"/>
          </a:p>
        </p:txBody>
      </p:sp>
      <p:sp>
        <p:nvSpPr>
          <p:cNvPr id="7" name="Text 5"/>
          <p:cNvSpPr/>
          <p:nvPr/>
        </p:nvSpPr>
        <p:spPr>
          <a:xfrm>
            <a:off x="812800" y="2999742"/>
            <a:ext cx="52324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3F0E6"/>
                </a:solidFill>
                <a:latin typeface="IBM Plex Sans" pitchFamily="34" charset="0"/>
                <a:ea typeface="IBM Plex Sans" pitchFamily="34" charset="-122"/>
                <a:cs typeface="IBM Plex Sans" pitchFamily="34" charset="-120"/>
              </a:rPr>
              <a:t>Lower bills for private institutions</a:t>
            </a:r>
            <a:endParaRPr lang="en-US" sz="1500" dirty="0"/>
          </a:p>
        </p:txBody>
      </p:sp>
      <p:sp>
        <p:nvSpPr>
          <p:cNvPr id="8" name="Text 6"/>
          <p:cNvSpPr/>
          <p:nvPr/>
        </p:nvSpPr>
        <p:spPr>
          <a:xfrm>
            <a:off x="812800" y="3266442"/>
            <a:ext cx="523240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6CF"/>
                </a:solidFill>
                <a:latin typeface="IBM Plex Sans" pitchFamily="34" charset="0"/>
                <a:ea typeface="IBM Plex Sans" pitchFamily="34" charset="-122"/>
                <a:cs typeface="IBM Plex Sans" pitchFamily="34" charset="-120"/>
              </a:rPr>
              <a:t>Solar and efficiency upgrades get through the bank with fewer rounds of paperwork</a:t>
            </a:r>
            <a:endParaRPr lang="en-US" sz="1300" dirty="0"/>
          </a:p>
        </p:txBody>
      </p:sp>
      <p:sp>
        <p:nvSpPr>
          <p:cNvPr id="9" name="Text 7"/>
          <p:cNvSpPr/>
          <p:nvPr/>
        </p:nvSpPr>
        <p:spPr>
          <a:xfrm>
            <a:off x="812800" y="3906521"/>
            <a:ext cx="52324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3F0E6"/>
                </a:solidFill>
                <a:latin typeface="IBM Plex Sans" pitchFamily="34" charset="0"/>
                <a:ea typeface="IBM Plex Sans" pitchFamily="34" charset="-122"/>
                <a:cs typeface="IBM Plex Sans" pitchFamily="34" charset="-120"/>
              </a:rPr>
              <a:t>Less imported energy</a:t>
            </a:r>
            <a:endParaRPr lang="en-US" sz="1500" dirty="0"/>
          </a:p>
        </p:txBody>
      </p:sp>
      <p:sp>
        <p:nvSpPr>
          <p:cNvPr id="10" name="Text 8"/>
          <p:cNvSpPr/>
          <p:nvPr/>
        </p:nvSpPr>
        <p:spPr>
          <a:xfrm>
            <a:off x="812800" y="4173221"/>
            <a:ext cx="54864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6CF"/>
                </a:solidFill>
                <a:latin typeface="IBM Plex Sans" pitchFamily="34" charset="0"/>
                <a:ea typeface="IBM Plex Sans" pitchFamily="34" charset="-122"/>
                <a:cs typeface="IBM Plex Sans" pitchFamily="34" charset="-120"/>
              </a:rPr>
              <a:t>More rooftop solar, toward the 48.5% local-electricity goal for 2030</a:t>
            </a:r>
            <a:endParaRPr lang="en-US" sz="1300" dirty="0"/>
          </a:p>
        </p:txBody>
      </p:sp>
      <p:sp>
        <p:nvSpPr>
          <p:cNvPr id="11" name="Text 9"/>
          <p:cNvSpPr/>
          <p:nvPr/>
        </p:nvSpPr>
        <p:spPr>
          <a:xfrm>
            <a:off x="812800" y="4582164"/>
            <a:ext cx="52324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6FD3A0"/>
                </a:solidFill>
                <a:latin typeface="IBM Plex Sans" pitchFamily="34" charset="0"/>
                <a:ea typeface="IBM Plex Sans" pitchFamily="34" charset="-122"/>
                <a:cs typeface="IBM Plex Sans" pitchFamily="34" charset="-120"/>
              </a:rPr>
              <a:t>Honest climate numbers</a:t>
            </a:r>
            <a:endParaRPr lang="en-US" sz="1500" dirty="0"/>
          </a:p>
        </p:txBody>
      </p:sp>
      <p:sp>
        <p:nvSpPr>
          <p:cNvPr id="12" name="Text 10"/>
          <p:cNvSpPr/>
          <p:nvPr/>
        </p:nvSpPr>
        <p:spPr>
          <a:xfrm>
            <a:off x="812800" y="4848864"/>
            <a:ext cx="523240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6CF"/>
                </a:solidFill>
                <a:latin typeface="IBM Plex Sans" pitchFamily="34" charset="0"/>
                <a:ea typeface="IBM Plex Sans" pitchFamily="34" charset="-122"/>
                <a:cs typeface="IBM Plex Sans" pitchFamily="34" charset="-120"/>
              </a:rPr>
              <a:t>CO₂ and energy savings estimated with national factors, not supplier claims</a:t>
            </a:r>
            <a:endParaRPr lang="en-US" sz="1300" dirty="0"/>
          </a:p>
        </p:txBody>
      </p:sp>
      <p:sp>
        <p:nvSpPr>
          <p:cNvPr id="13" name="Shape 11"/>
          <p:cNvSpPr/>
          <p:nvPr/>
        </p:nvSpPr>
        <p:spPr>
          <a:xfrm>
            <a:off x="6299200" y="1908812"/>
            <a:ext cx="5080000" cy="0"/>
          </a:xfrm>
          <a:prstGeom prst="line">
            <a:avLst/>
          </a:prstGeom>
          <a:noFill/>
          <a:ln w="12700">
            <a:solidFill>
              <a:srgbClr val="6FD3A0"/>
            </a:solidFill>
            <a:prstDash val="solid"/>
          </a:ln>
        </p:spPr>
      </p:sp>
      <p:sp>
        <p:nvSpPr>
          <p:cNvPr id="14" name="Text 12"/>
          <p:cNvSpPr/>
          <p:nvPr/>
        </p:nvSpPr>
        <p:spPr>
          <a:xfrm>
            <a:off x="6299200" y="16154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FD3A0"/>
                </a:solidFill>
                <a:latin typeface="IBM Plex Sans" pitchFamily="34" charset="0"/>
                <a:ea typeface="IBM Plex Sans" pitchFamily="34" charset="-122"/>
                <a:cs typeface="IBM Plex Sans" pitchFamily="34" charset="-120"/>
              </a:rPr>
              <a:t>INDIRECT</a:t>
            </a:r>
            <a:endParaRPr lang="en-US" sz="1200" dirty="0"/>
          </a:p>
        </p:txBody>
      </p:sp>
      <p:sp>
        <p:nvSpPr>
          <p:cNvPr id="15" name="Text 13"/>
          <p:cNvSpPr/>
          <p:nvPr/>
        </p:nvSpPr>
        <p:spPr>
          <a:xfrm>
            <a:off x="6299200" y="2092964"/>
            <a:ext cx="52324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3F0E6"/>
                </a:solidFill>
                <a:latin typeface="IBM Plex Sans" pitchFamily="34" charset="0"/>
                <a:ea typeface="IBM Plex Sans" pitchFamily="34" charset="-122"/>
                <a:cs typeface="IBM Plex Sans" pitchFamily="34" charset="-120"/>
              </a:rPr>
              <a:t>Trust in Jordan's green label</a:t>
            </a:r>
            <a:endParaRPr lang="en-US" sz="1500" dirty="0"/>
          </a:p>
        </p:txBody>
      </p:sp>
      <p:sp>
        <p:nvSpPr>
          <p:cNvPr id="16" name="Text 14"/>
          <p:cNvSpPr/>
          <p:nvPr/>
        </p:nvSpPr>
        <p:spPr>
          <a:xfrm>
            <a:off x="6299200" y="2359664"/>
            <a:ext cx="523240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6CF"/>
                </a:solidFill>
                <a:latin typeface="IBM Plex Sans" pitchFamily="34" charset="0"/>
                <a:ea typeface="IBM Plex Sans" pitchFamily="34" charset="-122"/>
                <a:cs typeface="IBM Plex Sans" pitchFamily="34" charset="-120"/>
              </a:rPr>
              <a:t>Consistent, provable labelling makes Jordanian green loans easier to back</a:t>
            </a:r>
            <a:endParaRPr lang="en-US" sz="1300" dirty="0"/>
          </a:p>
        </p:txBody>
      </p:sp>
      <p:sp>
        <p:nvSpPr>
          <p:cNvPr id="17" name="Text 15"/>
          <p:cNvSpPr/>
          <p:nvPr/>
        </p:nvSpPr>
        <p:spPr>
          <a:xfrm>
            <a:off x="6299200" y="2999742"/>
            <a:ext cx="52324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3F0E6"/>
                </a:solidFill>
                <a:latin typeface="IBM Plex Sans" pitchFamily="34" charset="0"/>
                <a:ea typeface="IBM Plex Sans" pitchFamily="34" charset="-122"/>
                <a:cs typeface="IBM Plex Sans" pitchFamily="34" charset="-120"/>
              </a:rPr>
              <a:t>A faster route to the US$10B need</a:t>
            </a:r>
            <a:endParaRPr lang="en-US" sz="1500" dirty="0"/>
          </a:p>
        </p:txBody>
      </p:sp>
      <p:sp>
        <p:nvSpPr>
          <p:cNvPr id="18" name="Text 16"/>
          <p:cNvSpPr/>
          <p:nvPr/>
        </p:nvSpPr>
        <p:spPr>
          <a:xfrm>
            <a:off x="6299200" y="3266442"/>
            <a:ext cx="52324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6CF"/>
                </a:solidFill>
                <a:latin typeface="IBM Plex Sans" pitchFamily="34" charset="0"/>
                <a:ea typeface="IBM Plex Sans" pitchFamily="34" charset="-122"/>
                <a:cs typeface="IBM Plex Sans" pitchFamily="34" charset="-120"/>
              </a:rPr>
              <a:t>Banks can grow green lending without growing their risk</a:t>
            </a:r>
            <a:endParaRPr lang="en-US" sz="1300" dirty="0"/>
          </a:p>
        </p:txBody>
      </p:sp>
      <p:sp>
        <p:nvSpPr>
          <p:cNvPr id="19" name="Text 17"/>
          <p:cNvSpPr/>
          <p:nvPr/>
        </p:nvSpPr>
        <p:spPr>
          <a:xfrm>
            <a:off x="6299200" y="3675379"/>
            <a:ext cx="52324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3F0E6"/>
                </a:solidFill>
                <a:latin typeface="IBM Plex Sans" pitchFamily="34" charset="0"/>
                <a:ea typeface="IBM Plex Sans" pitchFamily="34" charset="-122"/>
                <a:cs typeface="IBM Plex Sans" pitchFamily="34" charset="-120"/>
              </a:rPr>
              <a:t>More work for local installers</a:t>
            </a:r>
            <a:endParaRPr lang="en-US" sz="1500" dirty="0"/>
          </a:p>
        </p:txBody>
      </p:sp>
      <p:sp>
        <p:nvSpPr>
          <p:cNvPr id="20" name="Text 18"/>
          <p:cNvSpPr/>
          <p:nvPr/>
        </p:nvSpPr>
        <p:spPr>
          <a:xfrm>
            <a:off x="6299200" y="3942079"/>
            <a:ext cx="52324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6CF"/>
                </a:solidFill>
                <a:latin typeface="IBM Plex Sans" pitchFamily="34" charset="0"/>
                <a:ea typeface="IBM Plex Sans" pitchFamily="34" charset="-122"/>
                <a:cs typeface="IBM Plex Sans" pitchFamily="34" charset="-120"/>
              </a:rPr>
              <a:t>Every project that gets financed is a job for a local supplier</a:t>
            </a:r>
            <a:endParaRPr lang="en-US" sz="1300" dirty="0"/>
          </a:p>
        </p:txBody>
      </p:sp>
      <p:sp>
        <p:nvSpPr>
          <p:cNvPr id="21" name="Text 19"/>
          <p:cNvSpPr/>
          <p:nvPr/>
        </p:nvSpPr>
        <p:spPr>
          <a:xfrm>
            <a:off x="6299200" y="4351021"/>
            <a:ext cx="52324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6FD3A0"/>
                </a:solidFill>
                <a:latin typeface="IBM Plex Sans" pitchFamily="34" charset="0"/>
                <a:ea typeface="IBM Plex Sans" pitchFamily="34" charset="-122"/>
                <a:cs typeface="IBM Plex Sans" pitchFamily="34" charset="-120"/>
              </a:rPr>
              <a:t>Progress on national targets</a:t>
            </a:r>
            <a:endParaRPr lang="en-US" sz="1500" dirty="0"/>
          </a:p>
        </p:txBody>
      </p:sp>
      <p:sp>
        <p:nvSpPr>
          <p:cNvPr id="22" name="Text 20"/>
          <p:cNvSpPr/>
          <p:nvPr/>
        </p:nvSpPr>
        <p:spPr>
          <a:xfrm>
            <a:off x="6299200" y="4617721"/>
            <a:ext cx="523240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6CF"/>
                </a:solidFill>
                <a:latin typeface="IBM Plex Sans" pitchFamily="34" charset="0"/>
                <a:ea typeface="IBM Plex Sans" pitchFamily="34" charset="-122"/>
                <a:cs typeface="IBM Plex Sans" pitchFamily="34" charset="-120"/>
              </a:rPr>
              <a:t>Supports the CBJ Green Finance Strategy and the 31% emissions goal</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51F"/>
                </a:solidFill>
                <a:latin typeface="IBM Plex Sans" pitchFamily="34" charset="0"/>
                <a:ea typeface="IBM Plex Sans" pitchFamily="34" charset="-122"/>
                <a:cs typeface="IBM Plex Sans" pitchFamily="34" charset="-120"/>
              </a:rPr>
              <a:t>Business model: who pays and why</a:t>
            </a:r>
            <a:endParaRPr lang="en-US" sz="3200" dirty="0"/>
          </a:p>
        </p:txBody>
      </p:sp>
      <p:sp>
        <p:nvSpPr>
          <p:cNvPr id="3" name="Shape 1"/>
          <p:cNvSpPr/>
          <p:nvPr/>
        </p:nvSpPr>
        <p:spPr>
          <a:xfrm>
            <a:off x="815975" y="1567817"/>
            <a:ext cx="3397250" cy="2513330"/>
          </a:xfrm>
          <a:prstGeom prst="roundRect">
            <a:avLst>
              <a:gd name="adj" fmla="val 3916"/>
            </a:avLst>
          </a:prstGeom>
          <a:solidFill>
            <a:srgbClr val="FFFDF8"/>
          </a:solidFill>
          <a:ln w="6350">
            <a:solidFill>
              <a:srgbClr val="DCD6C8"/>
            </a:solidFill>
            <a:prstDash val="solid"/>
          </a:ln>
        </p:spPr>
      </p:sp>
      <p:sp>
        <p:nvSpPr>
          <p:cNvPr id="4" name="Text 2"/>
          <p:cNvSpPr/>
          <p:nvPr/>
        </p:nvSpPr>
        <p:spPr>
          <a:xfrm>
            <a:off x="1071880" y="1823721"/>
            <a:ext cx="2972003"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A6E4A"/>
                </a:solidFill>
                <a:latin typeface="IBM Plex Sans" pitchFamily="34" charset="0"/>
                <a:ea typeface="IBM Plex Sans" pitchFamily="34" charset="-122"/>
                <a:cs typeface="IBM Plex Sans" pitchFamily="34" charset="-120"/>
              </a:rPr>
              <a:t>WHO PAYS</a:t>
            </a:r>
            <a:endParaRPr lang="en-US" sz="1200" dirty="0"/>
          </a:p>
        </p:txBody>
      </p:sp>
      <p:sp>
        <p:nvSpPr>
          <p:cNvPr id="5" name="Text 3"/>
          <p:cNvSpPr/>
          <p:nvPr/>
        </p:nvSpPr>
        <p:spPr>
          <a:xfrm>
            <a:off x="1071880" y="2138679"/>
            <a:ext cx="2972003"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7251F"/>
                </a:solidFill>
                <a:latin typeface="IBM Plex Sans" pitchFamily="34" charset="0"/>
                <a:ea typeface="IBM Plex Sans" pitchFamily="34" charset="-122"/>
                <a:cs typeface="IBM Plex Sans" pitchFamily="34" charset="-120"/>
              </a:rPr>
              <a:t>Banks</a:t>
            </a:r>
            <a:endParaRPr lang="en-US" sz="2000" dirty="0"/>
          </a:p>
        </p:txBody>
      </p:sp>
      <p:sp>
        <p:nvSpPr>
          <p:cNvPr id="6" name="Text 4"/>
          <p:cNvSpPr/>
          <p:nvPr/>
        </p:nvSpPr>
        <p:spPr>
          <a:xfrm>
            <a:off x="1071880" y="2532379"/>
            <a:ext cx="297200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7251F"/>
                </a:solidFill>
                <a:latin typeface="IBM Plex Sans" pitchFamily="34" charset="0"/>
                <a:ea typeface="IBM Plex Sans" pitchFamily="34" charset="-122"/>
                <a:cs typeface="IBM Plex Sans" pitchFamily="34" charset="-120"/>
              </a:rPr>
              <a:t>And finance companies: they carry the compliance and the risk</a:t>
            </a:r>
            <a:endParaRPr lang="en-US" sz="1400" dirty="0"/>
          </a:p>
        </p:txBody>
      </p:sp>
      <p:sp>
        <p:nvSpPr>
          <p:cNvPr id="7" name="Text 5"/>
          <p:cNvSpPr/>
          <p:nvPr/>
        </p:nvSpPr>
        <p:spPr>
          <a:xfrm>
            <a:off x="1071880" y="3131821"/>
            <a:ext cx="2972003"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635C"/>
                </a:solidFill>
                <a:latin typeface="IBM Plex Sans" pitchFamily="34" charset="0"/>
                <a:ea typeface="IBM Plex Sans" pitchFamily="34" charset="-122"/>
                <a:cs typeface="IBM Plex Sans" pitchFamily="34" charset="-120"/>
              </a:rPr>
              <a:t>Free for institutions and installers, so applying is easy and the bank books more green loans</a:t>
            </a:r>
            <a:endParaRPr lang="en-US" sz="1300" dirty="0"/>
          </a:p>
        </p:txBody>
      </p:sp>
      <p:sp>
        <p:nvSpPr>
          <p:cNvPr id="8" name="Shape 6"/>
          <p:cNvSpPr/>
          <p:nvPr/>
        </p:nvSpPr>
        <p:spPr>
          <a:xfrm>
            <a:off x="4397375" y="1567817"/>
            <a:ext cx="3397250" cy="2513330"/>
          </a:xfrm>
          <a:prstGeom prst="roundRect">
            <a:avLst>
              <a:gd name="adj" fmla="val 3916"/>
            </a:avLst>
          </a:prstGeom>
          <a:solidFill>
            <a:srgbClr val="FFFDF8"/>
          </a:solidFill>
          <a:ln w="6350">
            <a:solidFill>
              <a:srgbClr val="DCD6C8"/>
            </a:solidFill>
            <a:prstDash val="solid"/>
          </a:ln>
        </p:spPr>
      </p:sp>
      <p:sp>
        <p:nvSpPr>
          <p:cNvPr id="9" name="Text 7"/>
          <p:cNvSpPr/>
          <p:nvPr/>
        </p:nvSpPr>
        <p:spPr>
          <a:xfrm>
            <a:off x="4653280" y="1823721"/>
            <a:ext cx="2972003"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A6E4A"/>
                </a:solidFill>
                <a:latin typeface="IBM Plex Sans" pitchFamily="34" charset="0"/>
                <a:ea typeface="IBM Plex Sans" pitchFamily="34" charset="-122"/>
                <a:cs typeface="IBM Plex Sans" pitchFamily="34" charset="-120"/>
              </a:rPr>
              <a:t>HOW WE CHARGE</a:t>
            </a:r>
            <a:endParaRPr lang="en-US" sz="1200" dirty="0"/>
          </a:p>
        </p:txBody>
      </p:sp>
      <p:sp>
        <p:nvSpPr>
          <p:cNvPr id="10" name="Text 8"/>
          <p:cNvSpPr/>
          <p:nvPr/>
        </p:nvSpPr>
        <p:spPr>
          <a:xfrm>
            <a:off x="4680712" y="2138679"/>
            <a:ext cx="2938475" cy="1021080"/>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b="1" dirty="0">
                <a:solidFill>
                  <a:srgbClr val="17251F"/>
                </a:solidFill>
                <a:latin typeface="IBM Plex Sans" pitchFamily="34" charset="0"/>
                <a:ea typeface="IBM Plex Sans" pitchFamily="34" charset="-122"/>
                <a:cs typeface="IBM Plex Sans" pitchFamily="34" charset="-120"/>
              </a:rPr>
              <a:t>Yearly subscription</a:t>
            </a:r>
            <a:r>
              <a:rPr lang="en-US" sz="1400" dirty="0">
                <a:solidFill>
                  <a:srgbClr val="17251F"/>
                </a:solidFill>
                <a:latin typeface="IBM Plex Sans" pitchFamily="34" charset="0"/>
                <a:ea typeface="IBM Plex Sans" pitchFamily="34" charset="-122"/>
                <a:cs typeface="IBM Plex Sans" pitchFamily="34" charset="-120"/>
              </a:rPr>
              <a:t> per bank, rule updates included</a:t>
            </a:r>
            <a:endParaRPr lang="en-US" sz="1400" dirty="0"/>
          </a:p>
          <a:p>
            <a:pPr algn="l" marL="175768" indent="-175768">
              <a:lnSpc>
                <a:spcPts val="1960"/>
              </a:lnSpc>
              <a:buSzPct val="100000"/>
              <a:buChar char="•"/>
            </a:pPr>
            <a:r>
              <a:rPr lang="en-US" sz="1400" b="1" dirty="0">
                <a:solidFill>
                  <a:srgbClr val="17251F"/>
                </a:solidFill>
                <a:latin typeface="IBM Plex Sans" pitchFamily="34" charset="0"/>
                <a:ea typeface="IBM Plex Sans" pitchFamily="34" charset="-122"/>
                <a:cs typeface="IBM Plex Sans" pitchFamily="34" charset="-120"/>
              </a:rPr>
              <a:t>Fee per application</a:t>
            </a:r>
            <a:r>
              <a:rPr lang="en-US" sz="1400" dirty="0">
                <a:solidFill>
                  <a:srgbClr val="17251F"/>
                </a:solidFill>
                <a:latin typeface="IBM Plex Sans" pitchFamily="34" charset="0"/>
                <a:ea typeface="IBM Plex Sans" pitchFamily="34" charset="-122"/>
                <a:cs typeface="IBM Plex Sans" pitchFamily="34" charset="-120"/>
              </a:rPr>
              <a:t> screened</a:t>
            </a:r>
            <a:endParaRPr lang="en-US" sz="1400" dirty="0"/>
          </a:p>
          <a:p>
            <a:pPr algn="l" marL="175768" indent="-175768">
              <a:lnSpc>
                <a:spcPts val="1960"/>
              </a:lnSpc>
              <a:buSzPct val="100000"/>
              <a:buChar char="•"/>
            </a:pPr>
            <a:r>
              <a:rPr lang="en-US" sz="1400" b="1" dirty="0">
                <a:solidFill>
                  <a:srgbClr val="17251F"/>
                </a:solidFill>
                <a:latin typeface="IBM Plex Sans" pitchFamily="34" charset="0"/>
                <a:ea typeface="IBM Plex Sans" pitchFamily="34" charset="-122"/>
                <a:cs typeface="IBM Plex Sans" pitchFamily="34" charset="-120"/>
              </a:rPr>
              <a:t>Fee per project</a:t>
            </a:r>
            <a:r>
              <a:rPr lang="en-US" sz="1400" dirty="0">
                <a:solidFill>
                  <a:srgbClr val="17251F"/>
                </a:solidFill>
                <a:latin typeface="IBM Plex Sans" pitchFamily="34" charset="0"/>
                <a:ea typeface="IBM Plex Sans" pitchFamily="34" charset="-122"/>
                <a:cs typeface="IBM Plex Sans" pitchFamily="34" charset="-120"/>
              </a:rPr>
              <a:t> verified on site</a:t>
            </a:r>
            <a:endParaRPr lang="en-US" sz="1400" dirty="0"/>
          </a:p>
        </p:txBody>
      </p:sp>
      <p:sp>
        <p:nvSpPr>
          <p:cNvPr id="11" name="Shape 9"/>
          <p:cNvSpPr/>
          <p:nvPr/>
        </p:nvSpPr>
        <p:spPr>
          <a:xfrm>
            <a:off x="7978775" y="1567817"/>
            <a:ext cx="3397250" cy="2513330"/>
          </a:xfrm>
          <a:prstGeom prst="roundRect">
            <a:avLst>
              <a:gd name="adj" fmla="val 3916"/>
            </a:avLst>
          </a:prstGeom>
          <a:solidFill>
            <a:srgbClr val="FFFDF8"/>
          </a:solidFill>
          <a:ln w="6350">
            <a:solidFill>
              <a:srgbClr val="DCD6C8"/>
            </a:solidFill>
            <a:prstDash val="solid"/>
          </a:ln>
        </p:spPr>
      </p:sp>
      <p:sp>
        <p:nvSpPr>
          <p:cNvPr id="12" name="Text 10"/>
          <p:cNvSpPr/>
          <p:nvPr/>
        </p:nvSpPr>
        <p:spPr>
          <a:xfrm>
            <a:off x="8234680" y="1823721"/>
            <a:ext cx="2972003"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A6E4A"/>
                </a:solidFill>
                <a:latin typeface="IBM Plex Sans" pitchFamily="34" charset="0"/>
                <a:ea typeface="IBM Plex Sans" pitchFamily="34" charset="-122"/>
                <a:cs typeface="IBM Plex Sans" pitchFamily="34" charset="-120"/>
              </a:rPr>
              <a:t>WHY THEY PAY</a:t>
            </a:r>
            <a:endParaRPr lang="en-US" sz="1200" dirty="0"/>
          </a:p>
        </p:txBody>
      </p:sp>
      <p:sp>
        <p:nvSpPr>
          <p:cNvPr id="13" name="Text 11"/>
          <p:cNvSpPr/>
          <p:nvPr/>
        </p:nvSpPr>
        <p:spPr>
          <a:xfrm>
            <a:off x="8262112" y="2138679"/>
            <a:ext cx="2938475" cy="1518920"/>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dirty="0">
                <a:solidFill>
                  <a:srgbClr val="17251F"/>
                </a:solidFill>
                <a:latin typeface="IBM Plex Sans" pitchFamily="34" charset="0"/>
                <a:ea typeface="IBM Plex Sans" pitchFamily="34" charset="-122"/>
                <a:cs typeface="IBM Plex Sans" pitchFamily="34" charset="-120"/>
              </a:rPr>
              <a:t>Less manual review per file</a:t>
            </a:r>
            <a:endParaRPr lang="en-US" sz="1400" dirty="0"/>
          </a:p>
          <a:p>
            <a:pPr algn="l" marL="175768" indent="-175768">
              <a:lnSpc>
                <a:spcPts val="1960"/>
              </a:lnSpc>
              <a:buSzPct val="100000"/>
              <a:buChar char="•"/>
            </a:pPr>
            <a:r>
              <a:rPr lang="en-US" sz="1400" dirty="0">
                <a:solidFill>
                  <a:srgbClr val="17251F"/>
                </a:solidFill>
                <a:latin typeface="IBM Plex Sans" pitchFamily="34" charset="0"/>
                <a:ea typeface="IBM Plex Sans" pitchFamily="34" charset="-122"/>
                <a:cs typeface="IBM Plex Sans" pitchFamily="34" charset="-120"/>
              </a:rPr>
              <a:t>Compliance evidence ready for the CBJ</a:t>
            </a:r>
            <a:endParaRPr lang="en-US" sz="1400" dirty="0"/>
          </a:p>
          <a:p>
            <a:pPr algn="l" marL="175768" indent="-175768">
              <a:lnSpc>
                <a:spcPts val="1960"/>
              </a:lnSpc>
              <a:buSzPct val="100000"/>
              <a:buChar char="•"/>
            </a:pPr>
            <a:r>
              <a:rPr lang="en-US" sz="1400" dirty="0">
                <a:solidFill>
                  <a:srgbClr val="17251F"/>
                </a:solidFill>
                <a:latin typeface="IBM Plex Sans" pitchFamily="34" charset="0"/>
                <a:ea typeface="IBM Plex Sans" pitchFamily="34" charset="-122"/>
                <a:cs typeface="IBM Plex Sans" pitchFamily="34" charset="-120"/>
              </a:rPr>
              <a:t>Proof of use of funds for green investors</a:t>
            </a:r>
            <a:endParaRPr lang="en-US" sz="1400" dirty="0"/>
          </a:p>
          <a:p>
            <a:pPr algn="l" marL="175768" indent="-175768">
              <a:lnSpc>
                <a:spcPts val="1960"/>
              </a:lnSpc>
              <a:buSzPct val="100000"/>
              <a:buChar char="•"/>
            </a:pPr>
            <a:r>
              <a:rPr lang="en-US" sz="1400" dirty="0">
                <a:solidFill>
                  <a:srgbClr val="17251F"/>
                </a:solidFill>
                <a:latin typeface="IBM Plex Sans" pitchFamily="34" charset="0"/>
                <a:ea typeface="IBM Plex Sans" pitchFamily="34" charset="-122"/>
                <a:cs typeface="IBM Plex Sans" pitchFamily="34" charset="-120"/>
              </a:rPr>
              <a:t>Fewer losses to double financing</a:t>
            </a:r>
            <a:endParaRPr lang="en-US" sz="1400" dirty="0"/>
          </a:p>
        </p:txBody>
      </p:sp>
      <p:sp>
        <p:nvSpPr>
          <p:cNvPr id="14" name="Text 12"/>
          <p:cNvSpPr/>
          <p:nvPr/>
        </p:nvSpPr>
        <p:spPr>
          <a:xfrm>
            <a:off x="812800" y="4389121"/>
            <a:ext cx="10883392" cy="29972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1A6E4A"/>
                </a:solidFill>
                <a:latin typeface="IBM Plex Sans" pitchFamily="34" charset="0"/>
                <a:ea typeface="IBM Plex Sans" pitchFamily="34" charset="-122"/>
                <a:cs typeface="IBM Plex Sans" pitchFamily="34" charset="-120"/>
              </a:rPr>
              <a:t>And it's cheap to run: about US$2–5 per application in a pilot (next slide).</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A6E4A"/>
                </a:solidFill>
                <a:latin typeface="IBM Plex Sans" pitchFamily="34" charset="0"/>
                <a:ea typeface="IBM Plex Sans" pitchFamily="34" charset="-122"/>
                <a:cs typeface="IBM Plex Sans" pitchFamily="34" charset="-120"/>
              </a:rPr>
              <a:t>COST TO RUN (EST., PILOT: 1 BANK, ~100 APPLICATIONS/MONTH)</a:t>
            </a:r>
            <a:endParaRPr lang="en-US" sz="1300" dirty="0"/>
          </a:p>
        </p:txBody>
      </p:sp>
      <p:sp>
        <p:nvSpPr>
          <p:cNvPr id="3" name="Text 1"/>
          <p:cNvSpPr/>
          <p:nvPr>
            <p:ph type="title"/>
          </p:nvPr>
        </p:nvSpPr>
        <p:spPr>
          <a:xfrm>
            <a:off x="812800" y="1120142"/>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51F"/>
                </a:solidFill>
                <a:latin typeface="IBM Plex Sans" pitchFamily="34" charset="0"/>
                <a:ea typeface="IBM Plex Sans" pitchFamily="34" charset="-122"/>
                <a:cs typeface="IBM Plex Sans" pitchFamily="34" charset="-120"/>
              </a:rPr>
              <a:t>What it costs to run</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780539"/>
          <a:ext cx="10556240" cy="3589655"/>
        </p:xfrm>
        <a:graphic>
          <a:graphicData uri="http://schemas.openxmlformats.org/drawingml/2006/table">
            <a:tbl>
              <a:tblPr/>
              <a:tblGrid>
                <a:gridCol w="3518747"/>
                <a:gridCol w="3518747"/>
                <a:gridCol w="3518747"/>
              </a:tblGrid>
              <a:tr h="385445">
                <a:tc>
                  <a:txBody>
                    <a:bodyPr/>
                    <a:lstStyle/>
                    <a:p>
                      <a:pPr indent="0" marL="0">
                        <a:lnSpc>
                          <a:spcPts val="1820"/>
                        </a:lnSpc>
                        <a:buNone/>
                      </a:pPr>
                      <a:r>
                        <a:rPr lang="en-US" sz="1300" b="1" dirty="0">
                          <a:solidFill>
                            <a:srgbClr val="55635C"/>
                          </a:solidFill>
                          <a:latin typeface="IBM Plex Sans" pitchFamily="34" charset="0"/>
                          <a:ea typeface="IBM Plex Sans" pitchFamily="34" charset="-122"/>
                          <a:cs typeface="IBM Plex Sans" pitchFamily="34" charset="-120"/>
                        </a:rPr>
                        <a:t>What</a:t>
                      </a:r>
                      <a:endParaRPr lang="en-US" sz="1300" dirty="0">
                        <a:latin typeface="IBM Plex Sans" charset="0"/>
                        <a:ea typeface="IBM Plex Sans" charset="0"/>
                        <a:cs typeface="IBM Plex Sans" charset="0"/>
                      </a:endParaRPr>
                    </a:p>
                  </a:txBody>
                  <a:tcPr marL="152400" marR="152400" marT="76200" marB="76200" anchor="t">
                    <a:lnL w="12700" cap="flat" cmpd="sng" algn="ctr">
                      <a:solidFill>
                        <a:srgbClr val="C4C1BB"/>
                      </a:solidFill>
                      <a:prstDash val="solid"/>
                      <a:round/>
                      <a:headEnd type="none" w="med" len="med"/>
                      <a:tailEnd type="none" w="med" len="med"/>
                    </a:lnL>
                    <a:lnR w="12700" cap="flat" cmpd="sng" algn="ctr">
                      <a:solidFill>
                        <a:srgbClr val="B5B3AD"/>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5B3AD"/>
                      </a:solidFill>
                      <a:prstDash val="solid"/>
                      <a:round/>
                      <a:headEnd type="none" w="med" len="med"/>
                      <a:tailEnd type="none" w="med" len="med"/>
                    </a:lnB>
                    <a:solidFill>
                      <a:srgbClr val="E3E0D9"/>
                    </a:solidFill>
                  </a:tcPr>
                </a:tc>
                <a:tc>
                  <a:txBody>
                    <a:bodyPr/>
                    <a:lstStyle/>
                    <a:p>
                      <a:pPr indent="0" marL="0">
                        <a:lnSpc>
                          <a:spcPts val="1820"/>
                        </a:lnSpc>
                        <a:buNone/>
                      </a:pPr>
                      <a:r>
                        <a:rPr lang="en-US" sz="1300" b="1" dirty="0">
                          <a:solidFill>
                            <a:srgbClr val="55635C"/>
                          </a:solidFill>
                          <a:latin typeface="IBM Plex Sans" pitchFamily="34" charset="0"/>
                          <a:ea typeface="IBM Plex Sans" pitchFamily="34" charset="-122"/>
                          <a:cs typeface="IBM Plex Sans" pitchFamily="34" charset="-120"/>
                        </a:rPr>
                        <a:t>What it does</a:t>
                      </a:r>
                      <a:endParaRPr lang="en-US" sz="1300" dirty="0">
                        <a:latin typeface="IBM Plex Sans" charset="0"/>
                        <a:ea typeface="IBM Plex Sans" charset="0"/>
                        <a:cs typeface="IBM Plex Sans" charset="0"/>
                      </a:endParaRPr>
                    </a:p>
                  </a:txBody>
                  <a:tcPr marL="152400" marR="152400" marT="76200" marB="76200" anchor="t">
                    <a:lnL w="12700" cap="flat" cmpd="sng" algn="ctr">
                      <a:solidFill>
                        <a:srgbClr val="B5B3AD"/>
                      </a:solidFill>
                      <a:prstDash val="solid"/>
                      <a:round/>
                      <a:headEnd type="none" w="med" len="med"/>
                      <a:tailEnd type="none" w="med" len="med"/>
                    </a:lnL>
                    <a:lnR w="12700" cap="flat" cmpd="sng" algn="ctr">
                      <a:solidFill>
                        <a:srgbClr val="B5B3AD"/>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5B3AD"/>
                      </a:solidFill>
                      <a:prstDash val="solid"/>
                      <a:round/>
                      <a:headEnd type="none" w="med" len="med"/>
                      <a:tailEnd type="none" w="med" len="med"/>
                    </a:lnB>
                    <a:solidFill>
                      <a:srgbClr val="E3E0D9"/>
                    </a:solidFill>
                  </a:tcPr>
                </a:tc>
                <a:tc>
                  <a:txBody>
                    <a:bodyPr/>
                    <a:lstStyle/>
                    <a:p>
                      <a:pPr indent="0" marL="0">
                        <a:lnSpc>
                          <a:spcPts val="1820"/>
                        </a:lnSpc>
                        <a:buNone/>
                      </a:pPr>
                      <a:r>
                        <a:rPr lang="en-US" sz="1300" b="1" dirty="0">
                          <a:solidFill>
                            <a:srgbClr val="55635C"/>
                          </a:solidFill>
                          <a:latin typeface="IBM Plex Sans" pitchFamily="34" charset="0"/>
                          <a:ea typeface="IBM Plex Sans" pitchFamily="34" charset="-122"/>
                          <a:cs typeface="IBM Plex Sans" pitchFamily="34" charset="-120"/>
                        </a:rPr>
                        <a:t>Est. cost</a:t>
                      </a:r>
                      <a:endParaRPr lang="en-US" sz="1300" dirty="0">
                        <a:latin typeface="IBM Plex Sans" charset="0"/>
                        <a:ea typeface="IBM Plex Sans" charset="0"/>
                        <a:cs typeface="IBM Plex Sans" charset="0"/>
                      </a:endParaRPr>
                    </a:p>
                  </a:txBody>
                  <a:tcPr marL="152400" marR="152400" marT="76200" marB="76200" anchor="t">
                    <a:lnL w="12700" cap="flat" cmpd="sng" algn="ctr">
                      <a:solidFill>
                        <a:srgbClr val="B5B3AD"/>
                      </a:solidFill>
                      <a:prstDash val="solid"/>
                      <a:round/>
                      <a:headEnd type="none" w="med" len="med"/>
                      <a:tailEnd type="none" w="med" len="med"/>
                    </a:lnL>
                    <a:lnR w="12700" cap="flat" cmpd="sng" algn="ctr">
                      <a:solidFill>
                        <a:srgbClr val="B5B3AD"/>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5B3AD"/>
                      </a:solidFill>
                      <a:prstDash val="solid"/>
                      <a:round/>
                      <a:headEnd type="none" w="med" len="med"/>
                      <a:tailEnd type="none" w="med" len="med"/>
                    </a:lnB>
                    <a:solidFill>
                      <a:srgbClr val="E3E0D9"/>
                    </a:solidFill>
                  </a:tcPr>
                </a:tc>
              </a:tr>
              <a:tr h="608330">
                <a:tc>
                  <a:txBody>
                    <a:bodyPr/>
                    <a:lstStyle/>
                    <a:p>
                      <a:pPr indent="0" marL="0">
                        <a:lnSpc>
                          <a:spcPts val="1820"/>
                        </a:lnSpc>
                        <a:buNone/>
                      </a:pPr>
                      <a:r>
                        <a:rPr lang="en-US" sz="1300" dirty="0">
                          <a:solidFill>
                            <a:srgbClr val="17251F"/>
                          </a:solidFill>
                          <a:latin typeface="IBM Plex Sans" pitchFamily="34" charset="0"/>
                          <a:ea typeface="IBM Plex Sans" pitchFamily="34" charset="-122"/>
                          <a:cs typeface="IBM Plex Sans" pitchFamily="34" charset="-120"/>
                        </a:rPr>
                        <a:t>AI extraction</a:t>
                      </a:r>
                      <a:endParaRPr lang="en-US" sz="1300" dirty="0">
                        <a:latin typeface="IBM Plex Sans" charset="0"/>
                        <a:ea typeface="IBM Plex Sans" charset="0"/>
                        <a:cs typeface="IBM Plex Sans" charset="0"/>
                      </a:endParaRPr>
                    </a:p>
                  </a:txBody>
                  <a:tcPr marL="152400" marR="152400" marT="76200" marB="762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5B3AD"/>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820"/>
                        </a:lnSpc>
                        <a:buNone/>
                      </a:pPr>
                      <a:r>
                        <a:rPr lang="en-US" sz="1300" dirty="0">
                          <a:solidFill>
                            <a:srgbClr val="17251F"/>
                          </a:solidFill>
                          <a:latin typeface="IBM Plex Sans" pitchFamily="34" charset="0"/>
                          <a:ea typeface="IBM Plex Sans" pitchFamily="34" charset="-122"/>
                          <a:cs typeface="IBM Plex Sans" pitchFamily="34" charset="-120"/>
                        </a:rPr>
                        <a:t>Anthropic model reads each document and pulls values with quotes</a:t>
                      </a:r>
                      <a:endParaRPr lang="en-US" sz="1300" dirty="0">
                        <a:latin typeface="IBM Plex Sans" charset="0"/>
                        <a:ea typeface="IBM Plex Sans" charset="0"/>
                        <a:cs typeface="IBM Plex Sans" charset="0"/>
                      </a:endParaRPr>
                    </a:p>
                  </a:txBody>
                  <a:tcPr marL="152400" marR="152400" marT="76200" marB="762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5B3AD"/>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820"/>
                        </a:lnSpc>
                        <a:buNone/>
                      </a:pPr>
                      <a:r>
                        <a:rPr lang="en-US" sz="1300" dirty="0">
                          <a:solidFill>
                            <a:srgbClr val="17251F"/>
                          </a:solidFill>
                          <a:latin typeface="IBM Plex Sans" pitchFamily="34" charset="0"/>
                          <a:ea typeface="IBM Plex Sans" pitchFamily="34" charset="-122"/>
                          <a:cs typeface="IBM Plex Sans" pitchFamily="34" charset="-120"/>
                        </a:rPr>
                        <a:t>US$1–3 per application → US$100–300/mo</a:t>
                      </a:r>
                      <a:endParaRPr lang="en-US" sz="1300" dirty="0">
                        <a:latin typeface="IBM Plex Sans" charset="0"/>
                        <a:ea typeface="IBM Plex Sans" charset="0"/>
                        <a:cs typeface="IBM Plex Sans" charset="0"/>
                      </a:endParaRPr>
                    </a:p>
                  </a:txBody>
                  <a:tcPr marL="152400" marR="152400" marT="76200" marB="762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5B3AD"/>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r h="385445">
                <a:tc>
                  <a:txBody>
                    <a:bodyPr/>
                    <a:lstStyle/>
                    <a:p>
                      <a:pPr indent="0" marL="0">
                        <a:lnSpc>
                          <a:spcPts val="1820"/>
                        </a:lnSpc>
                        <a:buNone/>
                      </a:pPr>
                      <a:r>
                        <a:rPr lang="en-US" sz="1300" dirty="0">
                          <a:solidFill>
                            <a:srgbClr val="17251F"/>
                          </a:solidFill>
                          <a:latin typeface="IBM Plex Sans" pitchFamily="34" charset="0"/>
                          <a:ea typeface="IBM Plex Sans" pitchFamily="34" charset="-122"/>
                          <a:cs typeface="IBM Plex Sans" pitchFamily="34" charset="-120"/>
                        </a:rPr>
                        <a:t>App server</a:t>
                      </a:r>
                      <a:endParaRPr lang="en-US" sz="1300" dirty="0">
                        <a:latin typeface="IBM Plex Sans" charset="0"/>
                        <a:ea typeface="IBM Plex Sans" charset="0"/>
                        <a:cs typeface="IBM Plex Sans" charset="0"/>
                      </a:endParaRPr>
                    </a:p>
                  </a:txBody>
                  <a:tcPr marL="152400" marR="152400" marT="76200" marB="762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820"/>
                        </a:lnSpc>
                        <a:buNone/>
                      </a:pPr>
                      <a:r>
                        <a:rPr lang="en-US" sz="1300" dirty="0">
                          <a:solidFill>
                            <a:srgbClr val="17251F"/>
                          </a:solidFill>
                          <a:latin typeface="IBM Plex Sans" pitchFamily="34" charset="0"/>
                          <a:ea typeface="IBM Plex Sans" pitchFamily="34" charset="-122"/>
                          <a:cs typeface="IBM Plex Sans" pitchFamily="34" charset="-120"/>
                        </a:rPr>
                        <a:t>Web app, rules and calculations</a:t>
                      </a:r>
                      <a:endParaRPr lang="en-US" sz="1300" dirty="0">
                        <a:latin typeface="IBM Plex Sans" charset="0"/>
                        <a:ea typeface="IBM Plex Sans" charset="0"/>
                        <a:cs typeface="IBM Plex Sans" charset="0"/>
                      </a:endParaRPr>
                    </a:p>
                  </a:txBody>
                  <a:tcPr marL="152400" marR="152400" marT="76200" marB="762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820"/>
                        </a:lnSpc>
                        <a:buNone/>
                      </a:pPr>
                      <a:r>
                        <a:rPr lang="en-US" sz="1300" dirty="0">
                          <a:solidFill>
                            <a:srgbClr val="17251F"/>
                          </a:solidFill>
                          <a:latin typeface="IBM Plex Sans" pitchFamily="34" charset="0"/>
                          <a:ea typeface="IBM Plex Sans" pitchFamily="34" charset="-122"/>
                          <a:cs typeface="IBM Plex Sans" pitchFamily="34" charset="-120"/>
                        </a:rPr>
                        <a:t>US$50–100/mo</a:t>
                      </a:r>
                      <a:endParaRPr lang="en-US" sz="1300" dirty="0">
                        <a:latin typeface="IBM Plex Sans" charset="0"/>
                        <a:ea typeface="IBM Plex Sans" charset="0"/>
                        <a:cs typeface="IBM Plex Sans" charset="0"/>
                      </a:endParaRPr>
                    </a:p>
                  </a:txBody>
                  <a:tcPr marL="152400" marR="152400" marT="76200" marB="762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r h="608330">
                <a:tc>
                  <a:txBody>
                    <a:bodyPr/>
                    <a:lstStyle/>
                    <a:p>
                      <a:pPr indent="0" marL="0">
                        <a:lnSpc>
                          <a:spcPts val="1820"/>
                        </a:lnSpc>
                        <a:buNone/>
                      </a:pPr>
                      <a:r>
                        <a:rPr lang="en-US" sz="1300" dirty="0">
                          <a:solidFill>
                            <a:srgbClr val="17251F"/>
                          </a:solidFill>
                          <a:latin typeface="IBM Plex Sans" pitchFamily="34" charset="0"/>
                          <a:ea typeface="IBM Plex Sans" pitchFamily="34" charset="-122"/>
                          <a:cs typeface="IBM Plex Sans" pitchFamily="34" charset="-120"/>
                        </a:rPr>
                        <a:t>Database</a:t>
                      </a:r>
                      <a:endParaRPr lang="en-US" sz="1300" dirty="0">
                        <a:latin typeface="IBM Plex Sans" charset="0"/>
                        <a:ea typeface="IBM Plex Sans" charset="0"/>
                        <a:cs typeface="IBM Plex Sans" charset="0"/>
                      </a:endParaRPr>
                    </a:p>
                  </a:txBody>
                  <a:tcPr marL="152400" marR="152400" marT="76200" marB="762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820"/>
                        </a:lnSpc>
                        <a:buNone/>
                      </a:pPr>
                      <a:r>
                        <a:rPr lang="en-US" sz="1300" dirty="0">
                          <a:solidFill>
                            <a:srgbClr val="17251F"/>
                          </a:solidFill>
                          <a:latin typeface="IBM Plex Sans" pitchFamily="34" charset="0"/>
                          <a:ea typeface="IBM Plex Sans" pitchFamily="34" charset="-122"/>
                          <a:cs typeface="IBM Plex Sans" pitchFamily="34" charset="-120"/>
                        </a:rPr>
                        <a:t>Applications, results and audit history (PostgreSQL)</a:t>
                      </a:r>
                      <a:endParaRPr lang="en-US" sz="1300" dirty="0">
                        <a:latin typeface="IBM Plex Sans" charset="0"/>
                        <a:ea typeface="IBM Plex Sans" charset="0"/>
                        <a:cs typeface="IBM Plex Sans" charset="0"/>
                      </a:endParaRPr>
                    </a:p>
                  </a:txBody>
                  <a:tcPr marL="152400" marR="152400" marT="76200" marB="762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820"/>
                        </a:lnSpc>
                        <a:buNone/>
                      </a:pPr>
                      <a:r>
                        <a:rPr lang="en-US" sz="1300" dirty="0">
                          <a:solidFill>
                            <a:srgbClr val="17251F"/>
                          </a:solidFill>
                          <a:latin typeface="IBM Plex Sans" pitchFamily="34" charset="0"/>
                          <a:ea typeface="IBM Plex Sans" pitchFamily="34" charset="-122"/>
                          <a:cs typeface="IBM Plex Sans" pitchFamily="34" charset="-120"/>
                        </a:rPr>
                        <a:t>US$50–150/mo</a:t>
                      </a:r>
                      <a:endParaRPr lang="en-US" sz="1300" dirty="0">
                        <a:latin typeface="IBM Plex Sans" charset="0"/>
                        <a:ea typeface="IBM Plex Sans" charset="0"/>
                        <a:cs typeface="IBM Plex Sans" charset="0"/>
                      </a:endParaRPr>
                    </a:p>
                  </a:txBody>
                  <a:tcPr marL="152400" marR="152400" marT="76200" marB="762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r h="385445">
                <a:tc>
                  <a:txBody>
                    <a:bodyPr/>
                    <a:lstStyle/>
                    <a:p>
                      <a:pPr indent="0" marL="0">
                        <a:lnSpc>
                          <a:spcPts val="1820"/>
                        </a:lnSpc>
                        <a:buNone/>
                      </a:pPr>
                      <a:r>
                        <a:rPr lang="en-US" sz="1300" dirty="0">
                          <a:solidFill>
                            <a:srgbClr val="17251F"/>
                          </a:solidFill>
                          <a:latin typeface="IBM Plex Sans" pitchFamily="34" charset="0"/>
                          <a:ea typeface="IBM Plex Sans" pitchFamily="34" charset="-122"/>
                          <a:cs typeface="IBM Plex Sans" pitchFamily="34" charset="-120"/>
                        </a:rPr>
                        <a:t>Evidence storage</a:t>
                      </a:r>
                      <a:endParaRPr lang="en-US" sz="1300" dirty="0">
                        <a:latin typeface="IBM Plex Sans" charset="0"/>
                        <a:ea typeface="IBM Plex Sans" charset="0"/>
                        <a:cs typeface="IBM Plex Sans" charset="0"/>
                      </a:endParaRPr>
                    </a:p>
                  </a:txBody>
                  <a:tcPr marL="152400" marR="152400" marT="76200" marB="762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820"/>
                        </a:lnSpc>
                        <a:buNone/>
                      </a:pPr>
                      <a:r>
                        <a:rPr lang="en-US" sz="1300" dirty="0">
                          <a:solidFill>
                            <a:srgbClr val="17251F"/>
                          </a:solidFill>
                          <a:latin typeface="IBM Plex Sans" pitchFamily="34" charset="0"/>
                          <a:ea typeface="IBM Plex Sans" pitchFamily="34" charset="-122"/>
                          <a:cs typeface="IBM Plex Sans" pitchFamily="34" charset="-120"/>
                        </a:rPr>
                        <a:t>Uploaded documents, site scans and PDFs</a:t>
                      </a:r>
                      <a:endParaRPr lang="en-US" sz="1300" dirty="0">
                        <a:latin typeface="IBM Plex Sans" charset="0"/>
                        <a:ea typeface="IBM Plex Sans" charset="0"/>
                        <a:cs typeface="IBM Plex Sans" charset="0"/>
                      </a:endParaRPr>
                    </a:p>
                  </a:txBody>
                  <a:tcPr marL="152400" marR="152400" marT="76200" marB="762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820"/>
                        </a:lnSpc>
                        <a:buNone/>
                      </a:pPr>
                      <a:r>
                        <a:rPr lang="en-US" sz="1300" dirty="0">
                          <a:solidFill>
                            <a:srgbClr val="17251F"/>
                          </a:solidFill>
                          <a:latin typeface="IBM Plex Sans" pitchFamily="34" charset="0"/>
                          <a:ea typeface="IBM Plex Sans" pitchFamily="34" charset="-122"/>
                          <a:cs typeface="IBM Plex Sans" pitchFamily="34" charset="-120"/>
                        </a:rPr>
                        <a:t>under US$10/mo</a:t>
                      </a:r>
                      <a:endParaRPr lang="en-US" sz="1300" dirty="0">
                        <a:latin typeface="IBM Plex Sans" charset="0"/>
                        <a:ea typeface="IBM Plex Sans" charset="0"/>
                        <a:cs typeface="IBM Plex Sans" charset="0"/>
                      </a:endParaRPr>
                    </a:p>
                  </a:txBody>
                  <a:tcPr marL="152400" marR="152400" marT="76200" marB="762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r h="608330">
                <a:tc>
                  <a:txBody>
                    <a:bodyPr/>
                    <a:lstStyle/>
                    <a:p>
                      <a:pPr indent="0" marL="0">
                        <a:lnSpc>
                          <a:spcPts val="1820"/>
                        </a:lnSpc>
                        <a:buNone/>
                      </a:pPr>
                      <a:r>
                        <a:rPr lang="en-US" sz="1300" dirty="0">
                          <a:solidFill>
                            <a:srgbClr val="17251F"/>
                          </a:solidFill>
                          <a:latin typeface="IBM Plex Sans" pitchFamily="34" charset="0"/>
                          <a:ea typeface="IBM Plex Sans" pitchFamily="34" charset="-122"/>
                          <a:cs typeface="IBM Plex Sans" pitchFamily="34" charset="-120"/>
                        </a:rPr>
                        <a:t>OCR and rules</a:t>
                      </a:r>
                      <a:endParaRPr lang="en-US" sz="1300" dirty="0">
                        <a:latin typeface="IBM Plex Sans" charset="0"/>
                        <a:ea typeface="IBM Plex Sans" charset="0"/>
                        <a:cs typeface="IBM Plex Sans" charset="0"/>
                      </a:endParaRPr>
                    </a:p>
                  </a:txBody>
                  <a:tcPr marL="152400" marR="152400" marT="76200" marB="762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820"/>
                        </a:lnSpc>
                        <a:buNone/>
                      </a:pPr>
                      <a:r>
                        <a:rPr lang="en-US" sz="1300" dirty="0">
                          <a:solidFill>
                            <a:srgbClr val="17251F"/>
                          </a:solidFill>
                          <a:latin typeface="IBM Plex Sans" pitchFamily="34" charset="0"/>
                          <a:ea typeface="IBM Plex Sans" pitchFamily="34" charset="-122"/>
                          <a:cs typeface="IBM Plex Sans" pitchFamily="34" charset="-120"/>
                        </a:rPr>
                        <a:t>Tesseract and TypeScript rules on our own server</a:t>
                      </a:r>
                      <a:endParaRPr lang="en-US" sz="1300" dirty="0">
                        <a:latin typeface="IBM Plex Sans" charset="0"/>
                        <a:ea typeface="IBM Plex Sans" charset="0"/>
                        <a:cs typeface="IBM Plex Sans" charset="0"/>
                      </a:endParaRPr>
                    </a:p>
                  </a:txBody>
                  <a:tcPr marL="152400" marR="152400" marT="76200" marB="762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820"/>
                        </a:lnSpc>
                        <a:buNone/>
                      </a:pPr>
                      <a:r>
                        <a:rPr lang="en-US" sz="1300" dirty="0">
                          <a:solidFill>
                            <a:srgbClr val="17251F"/>
                          </a:solidFill>
                          <a:latin typeface="IBM Plex Sans" pitchFamily="34" charset="0"/>
                          <a:ea typeface="IBM Plex Sans" pitchFamily="34" charset="-122"/>
                          <a:cs typeface="IBM Plex Sans" pitchFamily="34" charset="-120"/>
                        </a:rPr>
                        <a:t>US$0 extra</a:t>
                      </a:r>
                      <a:endParaRPr lang="en-US" sz="1300" dirty="0">
                        <a:latin typeface="IBM Plex Sans" charset="0"/>
                        <a:ea typeface="IBM Plex Sans" charset="0"/>
                        <a:cs typeface="IBM Plex Sans" charset="0"/>
                      </a:endParaRPr>
                    </a:p>
                  </a:txBody>
                  <a:tcPr marL="152400" marR="152400" marT="76200" marB="762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r h="608330">
                <a:tc>
                  <a:txBody>
                    <a:bodyPr/>
                    <a:lstStyle/>
                    <a:p>
                      <a:pPr indent="0" marL="0">
                        <a:lnSpc>
                          <a:spcPts val="1820"/>
                        </a:lnSpc>
                        <a:buNone/>
                      </a:pPr>
                      <a:r>
                        <a:rPr lang="en-US" sz="1300" dirty="0">
                          <a:solidFill>
                            <a:srgbClr val="1A6E4A"/>
                          </a:solidFill>
                          <a:latin typeface="IBM Plex Sans" pitchFamily="34" charset="0"/>
                          <a:ea typeface="IBM Plex Sans" pitchFamily="34" charset="-122"/>
                          <a:cs typeface="IBM Plex Sans" pitchFamily="34" charset="-120"/>
                        </a:rPr>
                        <a:t>Total</a:t>
                      </a:r>
                      <a:endParaRPr lang="en-US" sz="1300" dirty="0">
                        <a:latin typeface="IBM Plex Sans" charset="0"/>
                        <a:ea typeface="IBM Plex Sans" charset="0"/>
                        <a:cs typeface="IBM Plex Sans" charset="0"/>
                      </a:endParaRPr>
                    </a:p>
                  </a:txBody>
                  <a:tcPr marL="152400" marR="152400" marT="76200" marB="762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820"/>
                        </a:lnSpc>
                        <a:buNone/>
                      </a:pPr>
                      <a:endParaRPr lang="en-US" sz="1300" dirty="0">
                        <a:latin typeface="IBM Plex Sans" charset="0"/>
                        <a:ea typeface="IBM Plex Sans" charset="0"/>
                        <a:cs typeface="IBM Plex Sans" charset="0"/>
                      </a:endParaRPr>
                    </a:p>
                  </a:txBody>
                  <a:tcPr marL="152400" marR="152400" marT="76200" marB="762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820"/>
                        </a:lnSpc>
                        <a:buNone/>
                      </a:pPr>
                      <a:r>
                        <a:rPr lang="en-US" sz="1300" dirty="0">
                          <a:solidFill>
                            <a:srgbClr val="1A6E4A"/>
                          </a:solidFill>
                          <a:latin typeface="IBM Plex Sans" pitchFamily="34" charset="0"/>
                          <a:ea typeface="IBM Plex Sans" pitchFamily="34" charset="-122"/>
                          <a:cs typeface="IBM Plex Sans" pitchFamily="34" charset="-120"/>
                        </a:rPr>
                        <a:t>~US$200–550/mo, about US$2–5 per application</a:t>
                      </a:r>
                      <a:endParaRPr lang="en-US" sz="1300" dirty="0">
                        <a:latin typeface="IBM Plex Sans" charset="0"/>
                        <a:ea typeface="IBM Plex Sans" charset="0"/>
                        <a:cs typeface="IBM Plex Sans" charset="0"/>
                      </a:endParaRPr>
                    </a:p>
                  </a:txBody>
                  <a:tcPr marL="152400" marR="152400" marT="76200" marB="762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bl>
          </a:graphicData>
        </a:graphic>
      </p:graphicFrame>
      <p:sp>
        <p:nvSpPr>
          <p:cNvPr id="5" name="Text 2"/>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35C"/>
                </a:solidFill>
                <a:latin typeface="IBM Plex Sans" pitchFamily="34" charset="0"/>
                <a:ea typeface="IBM Plex Sans" pitchFamily="34" charset="-122"/>
                <a:cs typeface="IBM Plex Sans" pitchFamily="34" charset="-120"/>
              </a:rPr>
              <a:t>AI is the only cost that grows per application; the rest is a small fixed monthly bill. Final model choice is still being evaluated.</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2A23"/>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3F0E6"/>
                </a:solidFill>
                <a:latin typeface="IBM Plex Sans" pitchFamily="34" charset="0"/>
                <a:ea typeface="IBM Plex Sans" pitchFamily="34" charset="-122"/>
                <a:cs typeface="IBM Plex Sans" pitchFamily="34" charset="-120"/>
              </a:rPr>
              <a:t>Go-to-market and our ask</a:t>
            </a:r>
            <a:endParaRPr lang="en-US" sz="3200" dirty="0"/>
          </a:p>
        </p:txBody>
      </p:sp>
      <p:sp>
        <p:nvSpPr>
          <p:cNvPr id="3" name="Shape 1"/>
          <p:cNvSpPr/>
          <p:nvPr/>
        </p:nvSpPr>
        <p:spPr>
          <a:xfrm>
            <a:off x="812800" y="2534921"/>
            <a:ext cx="3352800" cy="0"/>
          </a:xfrm>
          <a:prstGeom prst="line">
            <a:avLst/>
          </a:prstGeom>
          <a:noFill/>
          <a:ln w="38100">
            <a:solidFill>
              <a:srgbClr val="6FD3A0"/>
            </a:solidFill>
            <a:prstDash val="solid"/>
          </a:ln>
        </p:spPr>
      </p:sp>
      <p:sp>
        <p:nvSpPr>
          <p:cNvPr id="4" name="Text 2"/>
          <p:cNvSpPr/>
          <p:nvPr/>
        </p:nvSpPr>
        <p:spPr>
          <a:xfrm>
            <a:off x="812800" y="2729229"/>
            <a:ext cx="3453384"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FD3A0"/>
                </a:solidFill>
                <a:latin typeface="IBM Plex Sans" pitchFamily="34" charset="0"/>
                <a:ea typeface="IBM Plex Sans" pitchFamily="34" charset="-122"/>
                <a:cs typeface="IBM Plex Sans" pitchFamily="34" charset="-120"/>
              </a:rPr>
              <a:t>1 · PILOT</a:t>
            </a:r>
            <a:endParaRPr lang="en-US" sz="1200" dirty="0"/>
          </a:p>
        </p:txBody>
      </p:sp>
      <p:sp>
        <p:nvSpPr>
          <p:cNvPr id="5" name="Text 3"/>
          <p:cNvSpPr/>
          <p:nvPr/>
        </p:nvSpPr>
        <p:spPr>
          <a:xfrm>
            <a:off x="812800" y="3031492"/>
            <a:ext cx="345338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3F0E6"/>
                </a:solidFill>
                <a:latin typeface="IBM Plex Sans" pitchFamily="34" charset="0"/>
                <a:ea typeface="IBM Plex Sans" pitchFamily="34" charset="-122"/>
                <a:cs typeface="IBM Plex Sans" pitchFamily="34" charset="-120"/>
              </a:rPr>
              <a:t>One bank, real files</a:t>
            </a:r>
            <a:endParaRPr lang="en-US" sz="1800" dirty="0"/>
          </a:p>
        </p:txBody>
      </p:sp>
      <p:sp>
        <p:nvSpPr>
          <p:cNvPr id="6" name="Text 4"/>
          <p:cNvSpPr/>
          <p:nvPr/>
        </p:nvSpPr>
        <p:spPr>
          <a:xfrm>
            <a:off x="812800" y="3394714"/>
            <a:ext cx="3453384"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6CF"/>
                </a:solidFill>
                <a:latin typeface="IBM Plex Sans" pitchFamily="34" charset="0"/>
                <a:ea typeface="IBM Plex Sans" pitchFamily="34" charset="-122"/>
                <a:cs typeface="IBM Plex Sans" pitchFamily="34" charset="-120"/>
              </a:rPr>
              <a:t>Run on one bank's green portfolio of private institutions; measure time saved and issues caught</a:t>
            </a:r>
            <a:endParaRPr lang="en-US" sz="1300" dirty="0"/>
          </a:p>
        </p:txBody>
      </p:sp>
      <p:sp>
        <p:nvSpPr>
          <p:cNvPr id="7" name="Shape 5"/>
          <p:cNvSpPr/>
          <p:nvPr/>
        </p:nvSpPr>
        <p:spPr>
          <a:xfrm>
            <a:off x="4419600" y="2534921"/>
            <a:ext cx="3352800" cy="0"/>
          </a:xfrm>
          <a:prstGeom prst="line">
            <a:avLst/>
          </a:prstGeom>
          <a:noFill/>
          <a:ln w="38100">
            <a:solidFill>
              <a:srgbClr val="6FD3A0"/>
            </a:solidFill>
            <a:prstDash val="solid"/>
          </a:ln>
        </p:spPr>
      </p:sp>
      <p:sp>
        <p:nvSpPr>
          <p:cNvPr id="8" name="Text 6"/>
          <p:cNvSpPr/>
          <p:nvPr/>
        </p:nvSpPr>
        <p:spPr>
          <a:xfrm>
            <a:off x="4419600" y="2729229"/>
            <a:ext cx="3453384"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FD3A0"/>
                </a:solidFill>
                <a:latin typeface="IBM Plex Sans" pitchFamily="34" charset="0"/>
                <a:ea typeface="IBM Plex Sans" pitchFamily="34" charset="-122"/>
                <a:cs typeface="IBM Plex Sans" pitchFamily="34" charset="-120"/>
              </a:rPr>
              <a:t>2 · SCALE IN JORDAN</a:t>
            </a:r>
            <a:endParaRPr lang="en-US" sz="1200" dirty="0"/>
          </a:p>
        </p:txBody>
      </p:sp>
      <p:sp>
        <p:nvSpPr>
          <p:cNvPr id="9" name="Text 7"/>
          <p:cNvSpPr/>
          <p:nvPr/>
        </p:nvSpPr>
        <p:spPr>
          <a:xfrm>
            <a:off x="4419600" y="3031492"/>
            <a:ext cx="3453384" cy="5740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3F0E6"/>
                </a:solidFill>
                <a:latin typeface="IBM Plex Sans" pitchFamily="34" charset="0"/>
                <a:ea typeface="IBM Plex Sans" pitchFamily="34" charset="-122"/>
                <a:cs typeface="IBM Plex Sans" pitchFamily="34" charset="-120"/>
              </a:rPr>
              <a:t>Every lender under the taxonomy</a:t>
            </a:r>
            <a:endParaRPr lang="en-US" sz="1800" dirty="0"/>
          </a:p>
        </p:txBody>
      </p:sp>
      <p:sp>
        <p:nvSpPr>
          <p:cNvPr id="10" name="Text 8"/>
          <p:cNvSpPr/>
          <p:nvPr/>
        </p:nvSpPr>
        <p:spPr>
          <a:xfrm>
            <a:off x="4419600" y="3669029"/>
            <a:ext cx="345338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6CF"/>
                </a:solidFill>
                <a:latin typeface="IBM Plex Sans" pitchFamily="34" charset="0"/>
                <a:ea typeface="IBM Plex Sans" pitchFamily="34" charset="-122"/>
                <a:cs typeface="IBM Plex Sans" pitchFamily="34" charset="-120"/>
              </a:rPr>
              <a:t>Banks and finance companies; add sign-in, audit log and signed certificates</a:t>
            </a:r>
            <a:endParaRPr lang="en-US" sz="1300" dirty="0"/>
          </a:p>
        </p:txBody>
      </p:sp>
      <p:sp>
        <p:nvSpPr>
          <p:cNvPr id="11" name="Shape 9"/>
          <p:cNvSpPr/>
          <p:nvPr/>
        </p:nvSpPr>
        <p:spPr>
          <a:xfrm>
            <a:off x="8026400" y="2534921"/>
            <a:ext cx="3352800" cy="0"/>
          </a:xfrm>
          <a:prstGeom prst="line">
            <a:avLst/>
          </a:prstGeom>
          <a:noFill/>
          <a:ln w="38100">
            <a:solidFill>
              <a:srgbClr val="6FD3A0"/>
            </a:solidFill>
            <a:prstDash val="solid"/>
          </a:ln>
        </p:spPr>
      </p:sp>
      <p:sp>
        <p:nvSpPr>
          <p:cNvPr id="12" name="Text 10"/>
          <p:cNvSpPr/>
          <p:nvPr/>
        </p:nvSpPr>
        <p:spPr>
          <a:xfrm>
            <a:off x="8026400" y="2729229"/>
            <a:ext cx="3453384"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FD3A0"/>
                </a:solidFill>
                <a:latin typeface="IBM Plex Sans" pitchFamily="34" charset="0"/>
                <a:ea typeface="IBM Plex Sans" pitchFamily="34" charset="-122"/>
                <a:cs typeface="IBM Plex Sans" pitchFamily="34" charset="-120"/>
              </a:rPr>
              <a:t>3 · EXPAND</a:t>
            </a:r>
            <a:endParaRPr lang="en-US" sz="1200" dirty="0"/>
          </a:p>
        </p:txBody>
      </p:sp>
      <p:sp>
        <p:nvSpPr>
          <p:cNvPr id="13" name="Text 11"/>
          <p:cNvSpPr/>
          <p:nvPr/>
        </p:nvSpPr>
        <p:spPr>
          <a:xfrm>
            <a:off x="8026400" y="3031492"/>
            <a:ext cx="3453384" cy="5740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3F0E6"/>
                </a:solidFill>
                <a:latin typeface="IBM Plex Sans" pitchFamily="34" charset="0"/>
                <a:ea typeface="IBM Plex Sans" pitchFamily="34" charset="-122"/>
                <a:cs typeface="IBM Plex Sans" pitchFamily="34" charset="-120"/>
              </a:rPr>
              <a:t>Shared registry and new markets</a:t>
            </a:r>
            <a:endParaRPr lang="en-US" sz="1800" dirty="0"/>
          </a:p>
        </p:txBody>
      </p:sp>
      <p:sp>
        <p:nvSpPr>
          <p:cNvPr id="14" name="Text 12"/>
          <p:cNvSpPr/>
          <p:nvPr/>
        </p:nvSpPr>
        <p:spPr>
          <a:xfrm>
            <a:off x="8026400" y="3669029"/>
            <a:ext cx="3453384"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6CF"/>
                </a:solidFill>
                <a:latin typeface="IBM Plex Sans" pitchFamily="34" charset="0"/>
                <a:ea typeface="IBM Plex Sans" pitchFamily="34" charset="-122"/>
                <a:cs typeface="IBM Plex Sans" pitchFamily="34" charset="-120"/>
              </a:rPr>
              <a:t>A shared financed-equipment registry, ideally with the CBJ or the credit bureau; new rule sets for other countries' taxonomies</a:t>
            </a:r>
            <a:endParaRPr lang="en-US" sz="1300" dirty="0"/>
          </a:p>
        </p:txBody>
      </p:sp>
      <p:sp>
        <p:nvSpPr>
          <p:cNvPr id="15" name="Text 13"/>
          <p:cNvSpPr/>
          <p:nvPr/>
        </p:nvSpPr>
        <p:spPr>
          <a:xfrm>
            <a:off x="812800" y="5618479"/>
            <a:ext cx="9156700" cy="452120"/>
          </a:xfrm>
          <a:prstGeom prst="rect">
            <a:avLst/>
          </a:prstGeom>
          <a:noFill/>
          <a:ln/>
        </p:spPr>
        <p:txBody>
          <a:bodyPr wrap="square" lIns="0" tIns="0" rIns="0" bIns="0" rtlCol="0" anchor="t">
            <a:normAutofit/>
          </a:bodyPr>
          <a:lstStyle/>
          <a:p>
            <a:pPr algn="l" indent="0" marL="0">
              <a:lnSpc>
                <a:spcPts val="3360"/>
              </a:lnSpc>
              <a:buNone/>
            </a:pPr>
            <a:r>
              <a:rPr lang="en-US" sz="2800" b="1" dirty="0">
                <a:solidFill>
                  <a:srgbClr val="F3F0E6"/>
                </a:solidFill>
                <a:latin typeface="IBM Plex Sans" pitchFamily="34" charset="0"/>
                <a:ea typeface="IBM Plex Sans" pitchFamily="34" charset="-122"/>
                <a:cs typeface="IBM Plex Sans" pitchFamily="34" charset="-120"/>
              </a:rPr>
              <a:t>Looking for a pilot partner: </a:t>
            </a:r>
            <a:r>
              <a:rPr lang="en-US" sz="2800" b="1" dirty="0">
                <a:solidFill>
                  <a:srgbClr val="6FD3A0"/>
                </a:solidFill>
                <a:latin typeface="IBM Plex Sans" pitchFamily="34" charset="0"/>
                <a:ea typeface="IBM Plex Sans" pitchFamily="34" charset="-122"/>
                <a:cs typeface="IBM Plex Sans" pitchFamily="34" charset="-120"/>
              </a:rPr>
              <a:t>one bank, one portfolio.</a:t>
            </a:r>
            <a:endParaRPr lang="en-US"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1567"/>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51F"/>
                </a:solidFill>
                <a:latin typeface="IBM Plex Sans" pitchFamily="34" charset="0"/>
                <a:ea typeface="IBM Plex Sans" pitchFamily="34" charset="-122"/>
                <a:cs typeface="IBM Plex Sans" pitchFamily="34" charset="-120"/>
              </a:rPr>
              <a:t>Compliance built in, rule by rule</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523134"/>
          <a:ext cx="10556240" cy="3948668"/>
        </p:xfrm>
        <a:graphic>
          <a:graphicData uri="http://schemas.openxmlformats.org/drawingml/2006/table">
            <a:tbl>
              <a:tblPr/>
              <a:tblGrid>
                <a:gridCol w="5278120"/>
                <a:gridCol w="5278120"/>
              </a:tblGrid>
              <a:tr h="427355">
                <a:tc>
                  <a:txBody>
                    <a:bodyPr/>
                    <a:lstStyle/>
                    <a:p>
                      <a:pPr indent="0" marL="0">
                        <a:lnSpc>
                          <a:spcPts val="1954"/>
                        </a:lnSpc>
                        <a:buNone/>
                      </a:pPr>
                      <a:r>
                        <a:rPr lang="en-US" sz="1396" b="1" dirty="0">
                          <a:solidFill>
                            <a:srgbClr val="55635C"/>
                          </a:solidFill>
                          <a:latin typeface="IBM Plex Sans" pitchFamily="34" charset="0"/>
                          <a:ea typeface="IBM Plex Sans" pitchFamily="34" charset="-122"/>
                          <a:cs typeface="IBM Plex Sans" pitchFamily="34" charset="-120"/>
                        </a:rPr>
                        <a:t>Requirement</a:t>
                      </a:r>
                      <a:endParaRPr lang="en-US" sz="1396" dirty="0">
                        <a:latin typeface="IBM Plex Sans" charset="0"/>
                        <a:ea typeface="IBM Plex Sans" charset="0"/>
                        <a:cs typeface="IBM Plex Sans" charset="0"/>
                      </a:endParaRPr>
                    </a:p>
                  </a:txBody>
                  <a:tcPr marL="152400" marR="152400" marT="88900" marB="88900" anchor="t">
                    <a:lnL w="12700" cap="flat" cmpd="sng" algn="ctr">
                      <a:solidFill>
                        <a:srgbClr val="C4C1BB"/>
                      </a:solidFill>
                      <a:prstDash val="solid"/>
                      <a:round/>
                      <a:headEnd type="none" w="med" len="med"/>
                      <a:tailEnd type="none" w="med" len="med"/>
                    </a:lnL>
                    <a:lnR w="12700" cap="flat" cmpd="sng" algn="ctr">
                      <a:solidFill>
                        <a:srgbClr val="B5B3AD"/>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5B3AD"/>
                      </a:solidFill>
                      <a:prstDash val="solid"/>
                      <a:round/>
                      <a:headEnd type="none" w="med" len="med"/>
                      <a:tailEnd type="none" w="med" len="med"/>
                    </a:lnB>
                    <a:solidFill>
                      <a:srgbClr val="E3E0D9"/>
                    </a:solidFill>
                  </a:tcPr>
                </a:tc>
                <a:tc>
                  <a:txBody>
                    <a:bodyPr/>
                    <a:lstStyle/>
                    <a:p>
                      <a:pPr indent="0" marL="0">
                        <a:lnSpc>
                          <a:spcPts val="1954"/>
                        </a:lnSpc>
                        <a:buNone/>
                      </a:pPr>
                      <a:r>
                        <a:rPr lang="en-US" sz="1396" b="1" dirty="0">
                          <a:solidFill>
                            <a:srgbClr val="55635C"/>
                          </a:solidFill>
                          <a:latin typeface="IBM Plex Sans" pitchFamily="34" charset="0"/>
                          <a:ea typeface="IBM Plex Sans" pitchFamily="34" charset="-122"/>
                          <a:cs typeface="IBM Plex Sans" pitchFamily="34" charset="-120"/>
                        </a:rPr>
                        <a:t>Tahaqqaq feature</a:t>
                      </a:r>
                      <a:endParaRPr lang="en-US" sz="1396" dirty="0">
                        <a:latin typeface="IBM Plex Sans" charset="0"/>
                        <a:ea typeface="IBM Plex Sans" charset="0"/>
                        <a:cs typeface="IBM Plex Sans" charset="0"/>
                      </a:endParaRPr>
                    </a:p>
                  </a:txBody>
                  <a:tcPr marL="152400" marR="152400" marT="88900" marB="88900" anchor="t">
                    <a:lnL w="12700" cap="flat" cmpd="sng" algn="ctr">
                      <a:solidFill>
                        <a:srgbClr val="B5B3AD"/>
                      </a:solidFill>
                      <a:prstDash val="solid"/>
                      <a:round/>
                      <a:headEnd type="none" w="med" len="med"/>
                      <a:tailEnd type="none" w="med" len="med"/>
                    </a:lnL>
                    <a:lnR w="12700" cap="flat" cmpd="sng" algn="ctr">
                      <a:solidFill>
                        <a:srgbClr val="B5B3AD"/>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5B3AD"/>
                      </a:solidFill>
                      <a:prstDash val="solid"/>
                      <a:round/>
                      <a:headEnd type="none" w="med" len="med"/>
                      <a:tailEnd type="none" w="med" len="med"/>
                    </a:lnB>
                    <a:solidFill>
                      <a:srgbClr val="E3E0D9"/>
                    </a:solidFill>
                  </a:tcPr>
                </a:tc>
              </a:tr>
              <a:tr h="427355">
                <a:tc>
                  <a:txBody>
                    <a:bodyPr/>
                    <a:lstStyle/>
                    <a:p>
                      <a:pPr indent="0" marL="0">
                        <a:lnSpc>
                          <a:spcPts val="1954"/>
                        </a:lnSpc>
                        <a:buNone/>
                      </a:pPr>
                      <a:r>
                        <a:rPr lang="en-US" sz="1396" dirty="0">
                          <a:solidFill>
                            <a:srgbClr val="17251F"/>
                          </a:solidFill>
                          <a:latin typeface="IBM Plex Sans" pitchFamily="34" charset="0"/>
                          <a:ea typeface="IBM Plex Sans" pitchFamily="34" charset="-122"/>
                          <a:cs typeface="IBM Plex Sans" pitchFamily="34" charset="-120"/>
                        </a:rPr>
                        <a:t>National Green Taxonomy (2026)</a:t>
                      </a:r>
                      <a:endParaRPr lang="en-US" sz="1396" dirty="0">
                        <a:latin typeface="IBM Plex Sans" charset="0"/>
                        <a:ea typeface="IBM Plex Sans" charset="0"/>
                        <a:cs typeface="IBM Plex Sans" charset="0"/>
                      </a:endParaRPr>
                    </a:p>
                  </a:txBody>
                  <a:tcPr marL="152400" marR="152400" marT="88900" marB="889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5B3AD"/>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954"/>
                        </a:lnSpc>
                        <a:buNone/>
                      </a:pPr>
                      <a:r>
                        <a:rPr lang="en-US" sz="1396" dirty="0">
                          <a:solidFill>
                            <a:srgbClr val="17251F"/>
                          </a:solidFill>
                          <a:latin typeface="IBM Plex Sans" pitchFamily="34" charset="0"/>
                          <a:ea typeface="IBM Plex Sans" pitchFamily="34" charset="-122"/>
                          <a:cs typeface="IBM Plex Sans" pitchFamily="34" charset="-120"/>
                        </a:rPr>
                        <a:t>Taxonomy layer: 5 criteria, each with its page reference</a:t>
                      </a:r>
                      <a:endParaRPr lang="en-US" sz="1396" dirty="0">
                        <a:latin typeface="IBM Plex Sans" charset="0"/>
                        <a:ea typeface="IBM Plex Sans" charset="0"/>
                        <a:cs typeface="IBM Plex Sans" charset="0"/>
                      </a:endParaRPr>
                    </a:p>
                  </a:txBody>
                  <a:tcPr marL="152400" marR="152400" marT="88900" marB="889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5B3AD"/>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r h="666591">
                <a:tc>
                  <a:txBody>
                    <a:bodyPr/>
                    <a:lstStyle/>
                    <a:p>
                      <a:pPr indent="0" marL="0">
                        <a:lnSpc>
                          <a:spcPts val="1954"/>
                        </a:lnSpc>
                        <a:buNone/>
                      </a:pPr>
                      <a:r>
                        <a:rPr lang="en-US" sz="1396" dirty="0">
                          <a:solidFill>
                            <a:srgbClr val="17251F"/>
                          </a:solidFill>
                          <a:latin typeface="IBM Plex Sans" pitchFamily="34" charset="0"/>
                          <a:ea typeface="IBM Plex Sans" pitchFamily="34" charset="-122"/>
                          <a:cs typeface="IBM Plex Sans" pitchFamily="34" charset="-120"/>
                        </a:rPr>
                        <a:t>CBJ Green Finance Strategy</a:t>
                      </a:r>
                      <a:endParaRPr lang="en-US" sz="1396" dirty="0">
                        <a:latin typeface="IBM Plex Sans" charset="0"/>
                        <a:ea typeface="IBM Plex Sans" charset="0"/>
                        <a:cs typeface="IBM Plex Sans" charset="0"/>
                      </a:endParaRPr>
                    </a:p>
                  </a:txBody>
                  <a:tcPr marL="152400" marR="152400" marT="88900" marB="889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954"/>
                        </a:lnSpc>
                        <a:buNone/>
                      </a:pPr>
                      <a:r>
                        <a:rPr lang="en-US" sz="1396" dirty="0">
                          <a:solidFill>
                            <a:srgbClr val="17251F"/>
                          </a:solidFill>
                          <a:latin typeface="IBM Plex Sans" pitchFamily="34" charset="0"/>
                          <a:ea typeface="IBM Plex Sans" pitchFamily="34" charset="-122"/>
                          <a:cs typeface="IBM Plex Sans" pitchFamily="34" charset="-120"/>
                        </a:rPr>
                        <a:t>Repeatable screening, a report to file, a certificate for disclosure</a:t>
                      </a:r>
                      <a:endParaRPr lang="en-US" sz="1396" dirty="0">
                        <a:latin typeface="IBM Plex Sans" charset="0"/>
                        <a:ea typeface="IBM Plex Sans" charset="0"/>
                        <a:cs typeface="IBM Plex Sans" charset="0"/>
                      </a:endParaRPr>
                    </a:p>
                  </a:txBody>
                  <a:tcPr marL="152400" marR="152400" marT="88900" marB="889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r h="666591">
                <a:tc>
                  <a:txBody>
                    <a:bodyPr/>
                    <a:lstStyle/>
                    <a:p>
                      <a:pPr indent="0" marL="0">
                        <a:lnSpc>
                          <a:spcPts val="1954"/>
                        </a:lnSpc>
                        <a:buNone/>
                      </a:pPr>
                      <a:r>
                        <a:rPr lang="en-US" sz="1396" dirty="0">
                          <a:solidFill>
                            <a:srgbClr val="17251F"/>
                          </a:solidFill>
                          <a:latin typeface="IBM Plex Sans" pitchFamily="34" charset="0"/>
                          <a:ea typeface="IBM Plex Sans" pitchFamily="34" charset="-122"/>
                          <a:cs typeface="IBM Plex Sans" pitchFamily="34" charset="-120"/>
                        </a:rPr>
                        <a:t>CBJ Climate Risk Instructions</a:t>
                      </a:r>
                      <a:endParaRPr lang="en-US" sz="1396" dirty="0">
                        <a:latin typeface="IBM Plex Sans" charset="0"/>
                        <a:ea typeface="IBM Plex Sans" charset="0"/>
                        <a:cs typeface="IBM Plex Sans" charset="0"/>
                      </a:endParaRPr>
                    </a:p>
                  </a:txBody>
                  <a:tcPr marL="152400" marR="152400" marT="88900" marB="889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954"/>
                        </a:lnSpc>
                        <a:buNone/>
                      </a:pPr>
                      <a:r>
                        <a:rPr lang="en-US" sz="1396" dirty="0">
                          <a:solidFill>
                            <a:srgbClr val="17251F"/>
                          </a:solidFill>
                          <a:latin typeface="IBM Plex Sans" pitchFamily="34" charset="0"/>
                          <a:ea typeface="IBM Plex Sans" pitchFamily="34" charset="-122"/>
                          <a:cs typeface="IBM Plex Sans" pitchFamily="34" charset="-120"/>
                        </a:rPr>
                        <a:t>Permits tracked; assumptions labelled "stand-in"; climate review left to the bank</a:t>
                      </a:r>
                      <a:endParaRPr lang="en-US" sz="1396" dirty="0">
                        <a:latin typeface="IBM Plex Sans" charset="0"/>
                        <a:ea typeface="IBM Plex Sans" charset="0"/>
                        <a:cs typeface="IBM Plex Sans" charset="0"/>
                      </a:endParaRPr>
                    </a:p>
                  </a:txBody>
                  <a:tcPr marL="152400" marR="152400" marT="88900" marB="889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r h="666671">
                <a:tc>
                  <a:txBody>
                    <a:bodyPr/>
                    <a:lstStyle/>
                    <a:p>
                      <a:pPr indent="0" marL="0">
                        <a:lnSpc>
                          <a:spcPts val="1954"/>
                        </a:lnSpc>
                        <a:buNone/>
                      </a:pPr>
                      <a:r>
                        <a:rPr lang="en-US" sz="1396" dirty="0">
                          <a:solidFill>
                            <a:srgbClr val="17251F"/>
                          </a:solidFill>
                          <a:latin typeface="IBM Plex Sans" pitchFamily="34" charset="0"/>
                          <a:ea typeface="IBM Plex Sans" pitchFamily="34" charset="-122"/>
                          <a:cs typeface="IBM Plex Sans" pitchFamily="34" charset="-120"/>
                        </a:rPr>
                        <a:t>Green Loan Principles (use of proceeds)</a:t>
                      </a:r>
                      <a:endParaRPr lang="en-US" sz="1396" dirty="0">
                        <a:latin typeface="IBM Plex Sans" charset="0"/>
                        <a:ea typeface="IBM Plex Sans" charset="0"/>
                        <a:cs typeface="IBM Plex Sans" charset="0"/>
                      </a:endParaRPr>
                    </a:p>
                  </a:txBody>
                  <a:tcPr marL="152400" marR="152400" marT="88900" marB="889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954"/>
                        </a:lnSpc>
                        <a:buNone/>
                      </a:pPr>
                      <a:r>
                        <a:rPr lang="en-US" sz="1396" dirty="0">
                          <a:solidFill>
                            <a:srgbClr val="17251F"/>
                          </a:solidFill>
                          <a:latin typeface="IBM Plex Sans" pitchFamily="34" charset="0"/>
                          <a:ea typeface="IBM Plex Sans" pitchFamily="34" charset="-122"/>
                          <a:cs typeface="IBM Plex Sans" pitchFamily="34" charset="-120"/>
                        </a:rPr>
                        <a:t>Phase 2: payments tied to scanned delivery and photographed switch-on</a:t>
                      </a:r>
                      <a:endParaRPr lang="en-US" sz="1396" dirty="0">
                        <a:latin typeface="IBM Plex Sans" charset="0"/>
                        <a:ea typeface="IBM Plex Sans" charset="0"/>
                        <a:cs typeface="IBM Plex Sans" charset="0"/>
                      </a:endParaRPr>
                    </a:p>
                  </a:txBody>
                  <a:tcPr marL="152400" marR="152400" marT="88900" marB="889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r h="427434">
                <a:tc>
                  <a:txBody>
                    <a:bodyPr/>
                    <a:lstStyle/>
                    <a:p>
                      <a:pPr indent="0" marL="0">
                        <a:lnSpc>
                          <a:spcPts val="1954"/>
                        </a:lnSpc>
                        <a:buNone/>
                      </a:pPr>
                      <a:r>
                        <a:rPr lang="en-US" sz="1396" dirty="0">
                          <a:solidFill>
                            <a:srgbClr val="17251F"/>
                          </a:solidFill>
                          <a:latin typeface="IBM Plex Sans" pitchFamily="34" charset="0"/>
                          <a:ea typeface="IBM Plex Sans" pitchFamily="34" charset="-122"/>
                          <a:cs typeface="IBM Plex Sans" pitchFamily="34" charset="-120"/>
                        </a:rPr>
                        <a:t>Energy Efficiency Action Plan</a:t>
                      </a:r>
                      <a:endParaRPr lang="en-US" sz="1396" dirty="0">
                        <a:latin typeface="IBM Plex Sans" charset="0"/>
                        <a:ea typeface="IBM Plex Sans" charset="0"/>
                        <a:cs typeface="IBM Plex Sans" charset="0"/>
                      </a:endParaRPr>
                    </a:p>
                  </a:txBody>
                  <a:tcPr marL="152400" marR="152400" marT="88900" marB="889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954"/>
                        </a:lnSpc>
                        <a:buNone/>
                      </a:pPr>
                      <a:r>
                        <a:rPr lang="en-US" sz="1396" dirty="0">
                          <a:solidFill>
                            <a:srgbClr val="17251F"/>
                          </a:solidFill>
                          <a:latin typeface="IBM Plex Sans" pitchFamily="34" charset="0"/>
                          <a:ea typeface="IBM Plex Sans" pitchFamily="34" charset="-122"/>
                          <a:cs typeface="IBM Plex Sans" pitchFamily="34" charset="-120"/>
                        </a:rPr>
                        <a:t>LED claims capped at 50%; CO₂ at 0.4447 tCO₂e/MWh</a:t>
                      </a:r>
                      <a:endParaRPr lang="en-US" sz="1396" dirty="0">
                        <a:latin typeface="IBM Plex Sans" charset="0"/>
                        <a:ea typeface="IBM Plex Sans" charset="0"/>
                        <a:cs typeface="IBM Plex Sans" charset="0"/>
                      </a:endParaRPr>
                    </a:p>
                  </a:txBody>
                  <a:tcPr marL="152400" marR="152400" marT="88900" marB="889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r h="666671">
                <a:tc>
                  <a:txBody>
                    <a:bodyPr/>
                    <a:lstStyle/>
                    <a:p>
                      <a:pPr indent="0" marL="0">
                        <a:lnSpc>
                          <a:spcPts val="1954"/>
                        </a:lnSpc>
                        <a:buNone/>
                      </a:pPr>
                      <a:r>
                        <a:rPr lang="en-US" sz="1396" dirty="0">
                          <a:solidFill>
                            <a:srgbClr val="17251F"/>
                          </a:solidFill>
                          <a:latin typeface="IBM Plex Sans" pitchFamily="34" charset="0"/>
                          <a:ea typeface="IBM Plex Sans" pitchFamily="34" charset="-122"/>
                          <a:cs typeface="IBM Plex Sans" pitchFamily="34" charset="-120"/>
                        </a:rPr>
                        <a:t>Updated NDC (31% cut)</a:t>
                      </a:r>
                      <a:endParaRPr lang="en-US" sz="1396" dirty="0">
                        <a:latin typeface="IBM Plex Sans" charset="0"/>
                        <a:ea typeface="IBM Plex Sans" charset="0"/>
                        <a:cs typeface="IBM Plex Sans" charset="0"/>
                      </a:endParaRPr>
                    </a:p>
                  </a:txBody>
                  <a:tcPr marL="152400" marR="152400" marT="88900" marB="889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954"/>
                        </a:lnSpc>
                        <a:buNone/>
                      </a:pPr>
                      <a:r>
                        <a:rPr lang="en-US" sz="1396" dirty="0">
                          <a:solidFill>
                            <a:srgbClr val="17251F"/>
                          </a:solidFill>
                          <a:latin typeface="IBM Plex Sans" pitchFamily="34" charset="0"/>
                          <a:ea typeface="IBM Plex Sans" pitchFamily="34" charset="-122"/>
                          <a:cs typeface="IBM Plex Sans" pitchFamily="34" charset="-120"/>
                        </a:rPr>
                        <a:t>MWh and tCO₂e avoided, labelled as estimates; switch-on photos confirm the system is running</a:t>
                      </a:r>
                      <a:endParaRPr lang="en-US" sz="1396" dirty="0">
                        <a:latin typeface="IBM Plex Sans" charset="0"/>
                        <a:ea typeface="IBM Plex Sans" charset="0"/>
                        <a:cs typeface="IBM Plex Sans" charset="0"/>
                      </a:endParaRPr>
                    </a:p>
                  </a:txBody>
                  <a:tcPr marL="152400" marR="152400" marT="88900" marB="889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bl>
          </a:graphicData>
        </a:graphic>
      </p:graphicFrame>
      <p:sp>
        <p:nvSpPr>
          <p:cNvPr id="4" name="Text 1"/>
          <p:cNvSpPr/>
          <p:nvPr/>
        </p:nvSpPr>
        <p:spPr>
          <a:xfrm>
            <a:off x="812800" y="5725802"/>
            <a:ext cx="10883392" cy="344805"/>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A6E4A"/>
                </a:solidFill>
                <a:latin typeface="IBM Plex Sans" pitchFamily="34" charset="0"/>
                <a:ea typeface="IBM Plex Sans" pitchFamily="34" charset="-122"/>
                <a:cs typeface="IBM Plex Sans" pitchFamily="34" charset="-120"/>
              </a:rPr>
              <a:t>Every criterion carries its page number, and you can click it.</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51F"/>
                </a:solidFill>
                <a:latin typeface="IBM Plex Sans" pitchFamily="34" charset="0"/>
                <a:ea typeface="IBM Plex Sans" pitchFamily="34" charset="-122"/>
                <a:cs typeface="IBM Plex Sans" pitchFamily="34" charset="-120"/>
              </a:rPr>
              <a:t>Why it's different</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524002"/>
          <a:ext cx="10556240" cy="2567940"/>
        </p:xfrm>
        <a:graphic>
          <a:graphicData uri="http://schemas.openxmlformats.org/drawingml/2006/table">
            <a:tbl>
              <a:tblPr/>
              <a:tblGrid>
                <a:gridCol w="5278120"/>
                <a:gridCol w="5278120"/>
              </a:tblGrid>
              <a:tr h="427990">
                <a:tc>
                  <a:txBody>
                    <a:bodyPr/>
                    <a:lstStyle/>
                    <a:p>
                      <a:pPr indent="0" marL="0">
                        <a:lnSpc>
                          <a:spcPts val="1960"/>
                        </a:lnSpc>
                        <a:buNone/>
                      </a:pPr>
                      <a:r>
                        <a:rPr lang="en-US" sz="1400" b="1" dirty="0">
                          <a:solidFill>
                            <a:srgbClr val="55635C"/>
                          </a:solidFill>
                          <a:latin typeface="IBM Plex Sans" pitchFamily="34" charset="0"/>
                          <a:ea typeface="IBM Plex Sans" pitchFamily="34" charset="-122"/>
                          <a:cs typeface="IBM Plex Sans" pitchFamily="34" charset="-120"/>
                        </a:rPr>
                        <a:t>Today</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C4C1BB"/>
                      </a:solidFill>
                      <a:prstDash val="solid"/>
                      <a:round/>
                      <a:headEnd type="none" w="med" len="med"/>
                      <a:tailEnd type="none" w="med" len="med"/>
                    </a:lnL>
                    <a:lnR w="12700" cap="flat" cmpd="sng" algn="ctr">
                      <a:solidFill>
                        <a:srgbClr val="B5B3AD"/>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5B3AD"/>
                      </a:solidFill>
                      <a:prstDash val="solid"/>
                      <a:round/>
                      <a:headEnd type="none" w="med" len="med"/>
                      <a:tailEnd type="none" w="med" len="med"/>
                    </a:lnB>
                    <a:solidFill>
                      <a:srgbClr val="E3E0D9"/>
                    </a:solidFill>
                  </a:tcPr>
                </a:tc>
                <a:tc>
                  <a:txBody>
                    <a:bodyPr/>
                    <a:lstStyle/>
                    <a:p>
                      <a:pPr indent="0" marL="0">
                        <a:lnSpc>
                          <a:spcPts val="1960"/>
                        </a:lnSpc>
                        <a:buNone/>
                      </a:pPr>
                      <a:r>
                        <a:rPr lang="en-US" sz="1400" b="1" dirty="0">
                          <a:solidFill>
                            <a:srgbClr val="1A6E4A"/>
                          </a:solidFill>
                          <a:latin typeface="IBM Plex Sans" pitchFamily="34" charset="0"/>
                          <a:ea typeface="IBM Plex Sans" pitchFamily="34" charset="-122"/>
                          <a:cs typeface="IBM Plex Sans" pitchFamily="34" charset="-120"/>
                        </a:rPr>
                        <a:t>With Tahaqqaq</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B5B3AD"/>
                      </a:solidFill>
                      <a:prstDash val="solid"/>
                      <a:round/>
                      <a:headEnd type="none" w="med" len="med"/>
                      <a:tailEnd type="none" w="med" len="med"/>
                    </a:lnL>
                    <a:lnR w="12700" cap="flat" cmpd="sng" algn="ctr">
                      <a:solidFill>
                        <a:srgbClr val="B5B3AD"/>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5B3AD"/>
                      </a:solidFill>
                      <a:prstDash val="solid"/>
                      <a:round/>
                      <a:headEnd type="none" w="med" len="med"/>
                      <a:tailEnd type="none" w="med" len="med"/>
                    </a:lnB>
                    <a:solidFill>
                      <a:srgbClr val="E3E0D9"/>
                    </a:solidFill>
                  </a:tcPr>
                </a:tc>
              </a:tr>
              <a:tr h="427990">
                <a:tc>
                  <a:txBody>
                    <a:bodyPr/>
                    <a:lstStyle/>
                    <a:p>
                      <a:pPr indent="0" marL="0">
                        <a:lnSpc>
                          <a:spcPts val="1960"/>
                        </a:lnSpc>
                        <a:buNone/>
                      </a:pPr>
                      <a:r>
                        <a:rPr lang="en-US" sz="1400" dirty="0">
                          <a:solidFill>
                            <a:srgbClr val="55635C"/>
                          </a:solidFill>
                          <a:latin typeface="IBM Plex Sans" pitchFamily="34" charset="0"/>
                          <a:ea typeface="IBM Plex Sans" pitchFamily="34" charset="-122"/>
                          <a:cs typeface="IBM Plex Sans" pitchFamily="34" charset="-120"/>
                        </a:rPr>
                        <a:t>Supplier claims taken at face value</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5B3AD"/>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960"/>
                        </a:lnSpc>
                        <a:buNone/>
                      </a:pPr>
                      <a:r>
                        <a:rPr lang="en-US" sz="1400" dirty="0">
                          <a:solidFill>
                            <a:srgbClr val="17251F"/>
                          </a:solidFill>
                          <a:latin typeface="IBM Plex Sans" pitchFamily="34" charset="0"/>
                          <a:ea typeface="IBM Plex Sans" pitchFamily="34" charset="-122"/>
                          <a:cs typeface="IBM Plex Sans" pitchFamily="34" charset="-120"/>
                        </a:rPr>
                        <a:t>Checked against Jordanian benchmarks and capped</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5B3AD"/>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r h="427990">
                <a:tc>
                  <a:txBody>
                    <a:bodyPr/>
                    <a:lstStyle/>
                    <a:p>
                      <a:pPr indent="0" marL="0">
                        <a:lnSpc>
                          <a:spcPts val="1960"/>
                        </a:lnSpc>
                        <a:buNone/>
                      </a:pPr>
                      <a:r>
                        <a:rPr lang="en-US" sz="1400" dirty="0">
                          <a:solidFill>
                            <a:srgbClr val="55635C"/>
                          </a:solidFill>
                          <a:latin typeface="IBM Plex Sans" pitchFamily="34" charset="0"/>
                          <a:ea typeface="IBM Plex Sans" pitchFamily="34" charset="-122"/>
                          <a:cs typeface="IBM Plex Sans" pitchFamily="34" charset="-120"/>
                        </a:rPr>
                        <a:t>"Green" decided by undocumented judgement</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960"/>
                        </a:lnSpc>
                        <a:buNone/>
                      </a:pPr>
                      <a:r>
                        <a:rPr lang="en-US" sz="1400" dirty="0">
                          <a:solidFill>
                            <a:srgbClr val="17251F"/>
                          </a:solidFill>
                          <a:latin typeface="IBM Plex Sans" pitchFamily="34" charset="0"/>
                          <a:ea typeface="IBM Plex Sans" pitchFamily="34" charset="-122"/>
                          <a:cs typeface="IBM Plex Sans" pitchFamily="34" charset="-120"/>
                        </a:rPr>
                        <a:t>4-layer rule check with page-cited sources</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r h="427990">
                <a:tc>
                  <a:txBody>
                    <a:bodyPr/>
                    <a:lstStyle/>
                    <a:p>
                      <a:pPr indent="0" marL="0">
                        <a:lnSpc>
                          <a:spcPts val="1960"/>
                        </a:lnSpc>
                        <a:buNone/>
                      </a:pPr>
                      <a:r>
                        <a:rPr lang="en-US" sz="1400" dirty="0">
                          <a:solidFill>
                            <a:srgbClr val="55635C"/>
                          </a:solidFill>
                          <a:latin typeface="IBM Plex Sans" pitchFamily="34" charset="0"/>
                          <a:ea typeface="IBM Plex Sans" pitchFamily="34" charset="-122"/>
                          <a:cs typeface="IBM Plex Sans" pitchFamily="34" charset="-120"/>
                        </a:rPr>
                        <a:t>Missing documents found late, one at a time</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960"/>
                        </a:lnSpc>
                        <a:buNone/>
                      </a:pPr>
                      <a:r>
                        <a:rPr lang="en-US" sz="1400" dirty="0">
                          <a:solidFill>
                            <a:srgbClr val="17251F"/>
                          </a:solidFill>
                          <a:latin typeface="IBM Plex Sans" pitchFamily="34" charset="0"/>
                          <a:ea typeface="IBM Plex Sans" pitchFamily="34" charset="-122"/>
                          <a:cs typeface="IBM Plex Sans" pitchFamily="34" charset="-120"/>
                        </a:rPr>
                        <a:t>Full request list on day one</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r h="427990">
                <a:tc>
                  <a:txBody>
                    <a:bodyPr/>
                    <a:lstStyle/>
                    <a:p>
                      <a:pPr indent="0" marL="0">
                        <a:lnSpc>
                          <a:spcPts val="1960"/>
                        </a:lnSpc>
                        <a:buNone/>
                      </a:pPr>
                      <a:r>
                        <a:rPr lang="en-US" sz="1400" dirty="0">
                          <a:solidFill>
                            <a:srgbClr val="55635C"/>
                          </a:solidFill>
                          <a:latin typeface="IBM Plex Sans" pitchFamily="34" charset="0"/>
                          <a:ea typeface="IBM Plex Sans" pitchFamily="34" charset="-122"/>
                          <a:cs typeface="IBM Plex Sans" pitchFamily="34" charset="-120"/>
                        </a:rPr>
                        <a:t>Loan paid out on invoices</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960"/>
                        </a:lnSpc>
                        <a:buNone/>
                      </a:pPr>
                      <a:r>
                        <a:rPr lang="en-US" sz="1400" dirty="0">
                          <a:solidFill>
                            <a:srgbClr val="17251F"/>
                          </a:solidFill>
                          <a:latin typeface="IBM Plex Sans" pitchFamily="34" charset="0"/>
                          <a:ea typeface="IBM Plex Sans" pitchFamily="34" charset="-122"/>
                          <a:cs typeface="IBM Plex Sans" pitchFamily="34" charset="-120"/>
                        </a:rPr>
                        <a:t>Paid in two stages against on-site scans and photos</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r h="427990">
                <a:tc>
                  <a:txBody>
                    <a:bodyPr/>
                    <a:lstStyle/>
                    <a:p>
                      <a:pPr indent="0" marL="0">
                        <a:lnSpc>
                          <a:spcPts val="1960"/>
                        </a:lnSpc>
                        <a:buNone/>
                      </a:pPr>
                      <a:r>
                        <a:rPr lang="en-US" sz="1400" dirty="0">
                          <a:solidFill>
                            <a:srgbClr val="55635C"/>
                          </a:solidFill>
                          <a:latin typeface="IBM Plex Sans" pitchFamily="34" charset="0"/>
                          <a:ea typeface="IBM Plex Sans" pitchFamily="34" charset="-122"/>
                          <a:cs typeface="IBM Plex Sans" pitchFamily="34" charset="-120"/>
                        </a:rPr>
                        <a:t>Generic AI chat: fluent, not auditable</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960"/>
                        </a:lnSpc>
                        <a:buNone/>
                      </a:pPr>
                      <a:r>
                        <a:rPr lang="en-US" sz="1400" dirty="0">
                          <a:solidFill>
                            <a:srgbClr val="17251F"/>
                          </a:solidFill>
                          <a:latin typeface="IBM Plex Sans" pitchFamily="34" charset="0"/>
                          <a:ea typeface="IBM Plex Sans" pitchFamily="34" charset="-122"/>
                          <a:cs typeface="IBM Plex Sans" pitchFamily="34" charset="-120"/>
                        </a:rPr>
                        <a:t>AI answers count only when the quote is on the page</a:t>
                      </a:r>
                      <a:endParaRPr lang="en-US" sz="1400" dirty="0">
                        <a:latin typeface="IBM Plex Sans" charset="0"/>
                        <a:ea typeface="IBM Plex Sans" charset="0"/>
                        <a:cs typeface="IBM Plex Sans" charset="0"/>
                      </a:endParaRPr>
                    </a:p>
                  </a:txBody>
                  <a:tcPr marL="152400" marR="152400" marT="88900" marB="889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bl>
          </a:graphicData>
        </a:graphic>
      </p:graphicFrame>
      <p:sp>
        <p:nvSpPr>
          <p:cNvPr id="4" name="Text 1"/>
          <p:cNvSpPr/>
          <p:nvPr/>
        </p:nvSpPr>
        <p:spPr>
          <a:xfrm>
            <a:off x="812800" y="4345942"/>
            <a:ext cx="2527300" cy="571500"/>
          </a:xfrm>
          <a:prstGeom prst="roundRect">
            <a:avLst>
              <a:gd name="adj" fmla="val 13333"/>
            </a:avLst>
          </a:prstGeom>
          <a:solidFill>
            <a:srgbClr val="0E2A23"/>
          </a:solidFill>
          <a:ln/>
        </p:spPr>
        <p:txBody>
          <a:bodyPr wrap="square" lIns="155482" tIns="130082" rIns="90331" bIns="104682" rtlCol="0" anchor="t">
            <a:normAutofit/>
          </a:bodyPr>
          <a:lstStyle/>
          <a:p>
            <a:pPr algn="l" indent="0" marL="0">
              <a:lnSpc>
                <a:spcPts val="2100"/>
              </a:lnSpc>
              <a:buNone/>
            </a:pPr>
            <a:r>
              <a:rPr lang="en-US" sz="1500" b="1" dirty="0">
                <a:solidFill>
                  <a:srgbClr val="F3F0E6"/>
                </a:solidFill>
                <a:latin typeface="IBM Plex Sans" pitchFamily="34" charset="0"/>
                <a:ea typeface="IBM Plex Sans" pitchFamily="34" charset="-122"/>
                <a:cs typeface="IBM Plex Sans" pitchFamily="34" charset="-120"/>
              </a:rPr>
              <a:t>Evidence first</a:t>
            </a:r>
            <a:endParaRPr lang="en-US" sz="1500" dirty="0"/>
          </a:p>
        </p:txBody>
      </p:sp>
      <p:sp>
        <p:nvSpPr>
          <p:cNvPr id="5" name="Text 2"/>
          <p:cNvSpPr/>
          <p:nvPr/>
        </p:nvSpPr>
        <p:spPr>
          <a:xfrm>
            <a:off x="3492500" y="4345942"/>
            <a:ext cx="2527300" cy="571500"/>
          </a:xfrm>
          <a:prstGeom prst="roundRect">
            <a:avLst>
              <a:gd name="adj" fmla="val 13333"/>
            </a:avLst>
          </a:prstGeom>
          <a:solidFill>
            <a:srgbClr val="0E2A23"/>
          </a:solidFill>
          <a:ln/>
        </p:spPr>
        <p:txBody>
          <a:bodyPr wrap="square" lIns="155482" tIns="130082" rIns="90331" bIns="104682" rtlCol="0" anchor="t">
            <a:normAutofit/>
          </a:bodyPr>
          <a:lstStyle/>
          <a:p>
            <a:pPr algn="l" indent="0" marL="0">
              <a:lnSpc>
                <a:spcPts val="2100"/>
              </a:lnSpc>
              <a:buNone/>
            </a:pPr>
            <a:r>
              <a:rPr lang="en-US" sz="1500" b="1" dirty="0">
                <a:solidFill>
                  <a:srgbClr val="F3F0E6"/>
                </a:solidFill>
                <a:latin typeface="IBM Plex Sans" pitchFamily="34" charset="0"/>
                <a:ea typeface="IBM Plex Sans" pitchFamily="34" charset="-122"/>
                <a:cs typeface="IBM Plex Sans" pitchFamily="34" charset="-120"/>
              </a:rPr>
              <a:t>Jordan specific</a:t>
            </a:r>
            <a:endParaRPr lang="en-US" sz="1500" dirty="0"/>
          </a:p>
        </p:txBody>
      </p:sp>
      <p:sp>
        <p:nvSpPr>
          <p:cNvPr id="6" name="Text 3"/>
          <p:cNvSpPr/>
          <p:nvPr/>
        </p:nvSpPr>
        <p:spPr>
          <a:xfrm>
            <a:off x="6172200" y="4345942"/>
            <a:ext cx="2527300" cy="571500"/>
          </a:xfrm>
          <a:prstGeom prst="roundRect">
            <a:avLst>
              <a:gd name="adj" fmla="val 13333"/>
            </a:avLst>
          </a:prstGeom>
          <a:solidFill>
            <a:srgbClr val="0E2A23"/>
          </a:solidFill>
          <a:ln/>
        </p:spPr>
        <p:txBody>
          <a:bodyPr wrap="square" lIns="155482" tIns="130082" rIns="90331" bIns="104682" rtlCol="0" anchor="t">
            <a:normAutofit/>
          </a:bodyPr>
          <a:lstStyle/>
          <a:p>
            <a:pPr algn="l" indent="0" marL="0">
              <a:lnSpc>
                <a:spcPts val="2100"/>
              </a:lnSpc>
              <a:buNone/>
            </a:pPr>
            <a:r>
              <a:rPr lang="en-US" sz="1500" b="1" dirty="0">
                <a:solidFill>
                  <a:srgbClr val="F3F0E6"/>
                </a:solidFill>
                <a:latin typeface="IBM Plex Sans" pitchFamily="34" charset="0"/>
                <a:ea typeface="IBM Plex Sans" pitchFamily="34" charset="-122"/>
                <a:cs typeface="IBM Plex Sans" pitchFamily="34" charset="-120"/>
              </a:rPr>
              <a:t>End to end</a:t>
            </a:r>
            <a:endParaRPr lang="en-US" sz="1500" dirty="0"/>
          </a:p>
        </p:txBody>
      </p:sp>
      <p:sp>
        <p:nvSpPr>
          <p:cNvPr id="7" name="Text 4"/>
          <p:cNvSpPr/>
          <p:nvPr/>
        </p:nvSpPr>
        <p:spPr>
          <a:xfrm>
            <a:off x="8851900" y="4345942"/>
            <a:ext cx="2527300" cy="571500"/>
          </a:xfrm>
          <a:prstGeom prst="roundRect">
            <a:avLst>
              <a:gd name="adj" fmla="val 13333"/>
            </a:avLst>
          </a:prstGeom>
          <a:solidFill>
            <a:srgbClr val="0E2A23"/>
          </a:solidFill>
          <a:ln/>
        </p:spPr>
        <p:txBody>
          <a:bodyPr wrap="square" lIns="155482" tIns="130082" rIns="90331" bIns="104682" rtlCol="0" anchor="t">
            <a:normAutofit/>
          </a:bodyPr>
          <a:lstStyle/>
          <a:p>
            <a:pPr algn="l" indent="0" marL="0">
              <a:lnSpc>
                <a:spcPts val="2100"/>
              </a:lnSpc>
              <a:buNone/>
            </a:pPr>
            <a:r>
              <a:rPr lang="en-US" sz="1500" b="1" dirty="0">
                <a:solidFill>
                  <a:srgbClr val="F3F0E6"/>
                </a:solidFill>
                <a:latin typeface="IBM Plex Sans" pitchFamily="34" charset="0"/>
                <a:ea typeface="IBM Plex Sans" pitchFamily="34" charset="-122"/>
                <a:cs typeface="IBM Plex Sans" pitchFamily="34" charset="-120"/>
              </a:rPr>
              <a:t>Humans in charge</a:t>
            </a:r>
            <a:endParaRPr lang="en-US" sz="1500" dirty="0"/>
          </a:p>
        </p:txBody>
      </p:sp>
    </p:spTree>
  </p:cSld>
  <p:clrMapOvr>
    <a:masterClrMapping/>
  </p:clrMapOvr>
</p:sld>
</file>

<file path=ppt/theme/theme1.xml><?xml version="1.0" encoding="utf-8"?>
<a:theme xmlns:a="http://schemas.openxmlformats.org/drawingml/2006/main" name="Tahaqqaq — AI Quest 2026">
  <a:themeElements>
    <a:clrScheme name="Tahaqqaq — AI Quest 2026">
      <a:dk1>
        <a:srgbClr val="17251F"/>
      </a:dk1>
      <a:lt1>
        <a:srgbClr val="F5F2EA"/>
      </a:lt1>
      <a:dk2>
        <a:srgbClr val="4F5852"/>
      </a:dk2>
      <a:lt2>
        <a:srgbClr val="DFDED6"/>
      </a:lt2>
      <a:accent1>
        <a:srgbClr val="1A6E4A"/>
      </a:accent1>
      <a:accent2>
        <a:srgbClr val="6FD3A0"/>
      </a:accent2>
      <a:accent3>
        <a:srgbClr val="C9D6CF"/>
      </a:accent3>
      <a:accent4>
        <a:srgbClr val="55635C"/>
      </a:accent4>
      <a:accent5>
        <a:srgbClr val="3B4A43"/>
      </a:accent5>
      <a:accent6>
        <a:srgbClr val="CDEFDD"/>
      </a:accent6>
      <a:hlink>
        <a:srgbClr val="0563C1"/>
      </a:hlink>
      <a:folHlink>
        <a:srgbClr val="954F72"/>
      </a:folHlink>
    </a:clrScheme>
    <a:fontScheme name="Tahaqqaq — AI Quest 2026">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Tahaqqaq — AI Quest 2026</dc:title>
  <dc:subject/>
  <dc:creator/>
  <cp:lastModifiedBy/>
  <cp:revision>1</cp:revision>
  <dcterms:created xsi:type="dcterms:W3CDTF">2026-10-10T09:33:07Z</dcterms:created>
  <dcterms:modified xsi:type="dcterms:W3CDTF">2026-10-10T09:33:07Z</dcterms:modified>
</cp:coreProperties>
</file>